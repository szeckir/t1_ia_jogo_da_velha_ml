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x="18288000" cy="10287000"/>
  <p:notesSz cx="6858000" cy="9144000"/>
  <p:embeddedFontLst>
    <p:embeddedFont>
      <p:font typeface="Open Sauce" charset="1" panose="00000500000000000000"/>
      <p:regular r:id="rId33"/>
    </p:embeddedFont>
    <p:embeddedFont>
      <p:font typeface="Open Sauce Bold" charset="1" panose="00000800000000000000"/>
      <p:regular r:id="rId34"/>
    </p:embeddedFont>
    <p:embeddedFont>
      <p:font typeface="Open Sauce Light" charset="1" panose="00000400000000000000"/>
      <p:regular r:id="rId35"/>
    </p:embeddedFont>
    <p:embeddedFont>
      <p:font typeface="Open Sans" charset="1" panose="020B0606030504020204"/>
      <p:regular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3.png" Type="http://schemas.openxmlformats.org/officeDocument/2006/relationships/image"/><Relationship Id="rId7" Target="../embeddings/oleObject1.bin" Type="http://schemas.openxmlformats.org/officeDocument/2006/relationships/oleObjec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4.png" Type="http://schemas.openxmlformats.org/officeDocument/2006/relationships/image"/><Relationship Id="rId7" Target="../embeddings/oleObject2.bin" Type="http://schemas.openxmlformats.org/officeDocument/2006/relationships/oleObjec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5.png" Type="http://schemas.openxmlformats.org/officeDocument/2006/relationships/image"/><Relationship Id="rId7" Target="../embeddings/oleObject3.bin" Type="http://schemas.openxmlformats.org/officeDocument/2006/relationships/oleObjec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6.png" Type="http://schemas.openxmlformats.org/officeDocument/2006/relationships/image"/><Relationship Id="rId7" Target="../embeddings/oleObject4.bin" Type="http://schemas.openxmlformats.org/officeDocument/2006/relationships/oleObjec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7.png" Type="http://schemas.openxmlformats.org/officeDocument/2006/relationships/image"/><Relationship Id="rId7" Target="../embeddings/oleObject5.bin" Type="http://schemas.openxmlformats.org/officeDocument/2006/relationships/oleObjec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8.png" Type="http://schemas.openxmlformats.org/officeDocument/2006/relationships/image"/><Relationship Id="rId7" Target="../embeddings/oleObject6.bin" Type="http://schemas.openxmlformats.org/officeDocument/2006/relationships/oleObjec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5443169" y="-2557831"/>
            <a:ext cx="7401663" cy="18288000"/>
          </a:xfrm>
          <a:custGeom>
            <a:avLst/>
            <a:gdLst/>
            <a:ahLst/>
            <a:cxnLst/>
            <a:rect r="r" b="b" t="t" l="l"/>
            <a:pathLst>
              <a:path h="18288000" w="7401663">
                <a:moveTo>
                  <a:pt x="0" y="0"/>
                </a:moveTo>
                <a:lnTo>
                  <a:pt x="7401662" y="0"/>
                </a:lnTo>
                <a:lnTo>
                  <a:pt x="7401662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7016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21690" y="2657903"/>
            <a:ext cx="15044621" cy="2485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998"/>
              </a:lnSpc>
              <a:spcBef>
                <a:spcPct val="0"/>
              </a:spcBef>
            </a:pPr>
            <a:r>
              <a:rPr lang="en-US" sz="7141" spc="-335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Tic Tac Toe com Machine Learning</a:t>
            </a:r>
          </a:p>
          <a:p>
            <a:pPr algn="ctr" marL="0" indent="0" lvl="0">
              <a:lnSpc>
                <a:spcPts val="9998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3007020" y="4207245"/>
            <a:ext cx="12273961" cy="3469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98"/>
              </a:lnSpc>
            </a:pPr>
            <a:r>
              <a:rPr lang="en-US" b="true" sz="6641" spc="13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Classificação de estados do Jogo da Velha usando IA</a:t>
            </a:r>
          </a:p>
          <a:p>
            <a:pPr algn="ctr" marL="0" indent="0" lvl="0">
              <a:lnSpc>
                <a:spcPts val="9298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7629466"/>
            <a:ext cx="10883644" cy="1737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1"/>
              </a:lnSpc>
            </a:pPr>
            <a:r>
              <a:rPr lang="en-US" sz="2472" spc="4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Disciplina: Inteligência Artificial </a:t>
            </a:r>
          </a:p>
          <a:p>
            <a:pPr algn="l">
              <a:lnSpc>
                <a:spcPts val="3461"/>
              </a:lnSpc>
            </a:pPr>
            <a:r>
              <a:rPr lang="en-US" sz="2472" spc="4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Grupo: Dhara Hadi, Júlia Bettiol, Lucas Pinheiro e Thomaz Szeckir </a:t>
            </a:r>
          </a:p>
          <a:p>
            <a:pPr algn="l">
              <a:lnSpc>
                <a:spcPts val="3461"/>
              </a:lnSpc>
            </a:pPr>
            <a:r>
              <a:rPr lang="en-US" sz="2472" spc="4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Dataset: Tic-Tac-Toe Endgame — UCI Machine Learning Repository</a:t>
            </a:r>
          </a:p>
          <a:p>
            <a:pPr algn="l">
              <a:lnSpc>
                <a:spcPts val="3461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481179" y="576468"/>
            <a:ext cx="1919429" cy="566532"/>
            <a:chOff x="0" y="0"/>
            <a:chExt cx="505529" cy="1492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357FF">
                    <a:alpha val="100000"/>
                  </a:srgbClr>
                </a:gs>
                <a:gs pos="100000">
                  <a:srgbClr val="FCAC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-5400000">
            <a:off x="11157371" y="2500334"/>
            <a:ext cx="9145756" cy="9162415"/>
          </a:xfrm>
          <a:custGeom>
            <a:avLst/>
            <a:gdLst/>
            <a:ahLst/>
            <a:cxnLst/>
            <a:rect r="r" b="b" t="t" l="l"/>
            <a:pathLst>
              <a:path h="9162415" w="9145756">
                <a:moveTo>
                  <a:pt x="9145756" y="0"/>
                </a:moveTo>
                <a:lnTo>
                  <a:pt x="0" y="0"/>
                </a:lnTo>
                <a:lnTo>
                  <a:pt x="0" y="9162415"/>
                </a:lnTo>
                <a:lnTo>
                  <a:pt x="9145756" y="9162415"/>
                </a:lnTo>
                <a:lnTo>
                  <a:pt x="914575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-1062951"/>
            <a:ext cx="7672410" cy="7672410"/>
          </a:xfrm>
          <a:custGeom>
            <a:avLst/>
            <a:gdLst/>
            <a:ahLst/>
            <a:cxnLst/>
            <a:rect r="r" b="b" t="t" l="l"/>
            <a:pathLst>
              <a:path h="7672410" w="7672410">
                <a:moveTo>
                  <a:pt x="0" y="0"/>
                </a:moveTo>
                <a:lnTo>
                  <a:pt x="7672410" y="0"/>
                </a:lnTo>
                <a:lnTo>
                  <a:pt x="7672410" y="7672409"/>
                </a:lnTo>
                <a:lnTo>
                  <a:pt x="0" y="76724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730249" y="663200"/>
            <a:ext cx="1421291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Page 02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527713"/>
            <a:ext cx="5741000" cy="1957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704"/>
              </a:lnSpc>
            </a:pPr>
            <a:r>
              <a:rPr lang="en-US" sz="6641" spc="-31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Introdução</a:t>
            </a:r>
          </a:p>
          <a:p>
            <a:pPr algn="just" marL="0" indent="0" lvl="0">
              <a:lnSpc>
                <a:spcPts val="7704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8644410" y="2171175"/>
            <a:ext cx="8139229" cy="703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9"/>
              </a:lnSpc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Neste trabalho foi desenvolvido um sistema de Inteligência Artificial para classificar o estado atual de um tabuleiro clássico de Jogo da Velha 3x3.</a:t>
            </a:r>
          </a:p>
          <a:p>
            <a:pPr algn="just">
              <a:lnSpc>
                <a:spcPts val="2799"/>
              </a:lnSpc>
            </a:pPr>
          </a:p>
          <a:p>
            <a:pPr algn="just">
              <a:lnSpc>
                <a:spcPts val="2799"/>
              </a:lnSpc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Diferente de uma IA que joga contra o usuário, o objetivo principal da solução criada foi verificar o estado do jogo a cada rodada. Ou seja, o modelo de Machine Learning recebe como entrada a configuração atual do tabuleiro e retorna uma das quatro situações possíveis:</a:t>
            </a:r>
          </a:p>
          <a:p>
            <a:pPr algn="just">
              <a:lnSpc>
                <a:spcPts val="2799"/>
              </a:lnSpc>
            </a:pPr>
          </a:p>
          <a:p>
            <a:pPr algn="just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Tem jogo;</a:t>
            </a:r>
          </a:p>
          <a:p>
            <a:pPr algn="just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Jogador X venceu;</a:t>
            </a:r>
          </a:p>
          <a:p>
            <a:pPr algn="just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Jogador O venceu;</a:t>
            </a:r>
          </a:p>
          <a:p>
            <a:pPr algn="just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Empate.</a:t>
            </a:r>
          </a:p>
          <a:p>
            <a:pPr algn="just">
              <a:lnSpc>
                <a:spcPts val="2799"/>
              </a:lnSpc>
            </a:pPr>
          </a:p>
          <a:p>
            <a:pPr algn="just">
              <a:lnSpc>
                <a:spcPts val="2799"/>
              </a:lnSpc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Essa classificação foi integrada a um front-end em terminal, permitindo testar a IA durante partidas reais entre um jogador humano e o computador.</a:t>
            </a:r>
          </a:p>
          <a:p>
            <a:pPr algn="just">
              <a:lnSpc>
                <a:spcPts val="2799"/>
              </a:lnSpc>
            </a:pPr>
          </a:p>
          <a:p>
            <a:pPr algn="just">
              <a:lnSpc>
                <a:spcPts val="27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5400000">
            <a:off x="11991655" y="3987572"/>
            <a:ext cx="6979048" cy="6991760"/>
          </a:xfrm>
          <a:custGeom>
            <a:avLst/>
            <a:gdLst/>
            <a:ahLst/>
            <a:cxnLst/>
            <a:rect r="r" b="b" t="t" l="l"/>
            <a:pathLst>
              <a:path h="6991760" w="6979048">
                <a:moveTo>
                  <a:pt x="6979048" y="0"/>
                </a:moveTo>
                <a:lnTo>
                  <a:pt x="0" y="0"/>
                </a:lnTo>
                <a:lnTo>
                  <a:pt x="0" y="6991760"/>
                </a:lnTo>
                <a:lnTo>
                  <a:pt x="6979048" y="6991760"/>
                </a:lnTo>
                <a:lnTo>
                  <a:pt x="697904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481179" y="576468"/>
            <a:ext cx="1919429" cy="566532"/>
            <a:chOff x="0" y="0"/>
            <a:chExt cx="505529" cy="1492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357FF">
                    <a:alpha val="100000"/>
                  </a:srgbClr>
                </a:gs>
                <a:gs pos="100000">
                  <a:srgbClr val="FCAC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true" rot="0">
            <a:off x="601821" y="305216"/>
            <a:ext cx="2750861" cy="2750861"/>
          </a:xfrm>
          <a:custGeom>
            <a:avLst/>
            <a:gdLst/>
            <a:ahLst/>
            <a:cxnLst/>
            <a:rect r="r" b="b" t="t" l="l"/>
            <a:pathLst>
              <a:path h="2750861" w="2750861">
                <a:moveTo>
                  <a:pt x="0" y="2750862"/>
                </a:moveTo>
                <a:lnTo>
                  <a:pt x="2750861" y="2750862"/>
                </a:lnTo>
                <a:lnTo>
                  <a:pt x="2750861" y="0"/>
                </a:lnTo>
                <a:lnTo>
                  <a:pt x="0" y="0"/>
                </a:lnTo>
                <a:lnTo>
                  <a:pt x="0" y="275086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739774" y="650878"/>
            <a:ext cx="1421291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Page 03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84021" y="1098287"/>
            <a:ext cx="7860194" cy="1957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704"/>
              </a:lnSpc>
            </a:pPr>
            <a:r>
              <a:rPr lang="en-US" sz="6641" spc="-312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Objetivo do trabalho</a:t>
            </a:r>
          </a:p>
          <a:p>
            <a:pPr algn="just" marL="0" indent="0" lvl="0">
              <a:lnSpc>
                <a:spcPts val="7704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312233" y="3486461"/>
            <a:ext cx="13080734" cy="5272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9"/>
              </a:lnSpc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 objetivo foi construir uma solução completa de Machine Learning capaz de:</a:t>
            </a:r>
          </a:p>
          <a:p>
            <a:pPr algn="just">
              <a:lnSpc>
                <a:spcPts val="2799"/>
              </a:lnSpc>
            </a:pPr>
          </a:p>
          <a:p>
            <a:pPr algn="l" marL="431799" indent="-215899" lvl="1">
              <a:lnSpc>
                <a:spcPts val="2799"/>
              </a:lnSpc>
              <a:buAutoNum type="arabicPeriod" startAt="1"/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Carregar e analisar o dataset original;</a:t>
            </a:r>
          </a:p>
          <a:p>
            <a:pPr algn="just" marL="431799" indent="-215899" lvl="1">
              <a:lnSpc>
                <a:spcPts val="2799"/>
              </a:lnSpc>
              <a:buAutoNum type="arabicPeriod" startAt="1"/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Adaptar o dataset para o problema de quatro classes;</a:t>
            </a:r>
          </a:p>
          <a:p>
            <a:pPr algn="just" marL="431799" indent="-215899" lvl="1">
              <a:lnSpc>
                <a:spcPts val="2799"/>
              </a:lnSpc>
              <a:buAutoNum type="arabicPeriod" startAt="1"/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Balancear as classes;</a:t>
            </a:r>
          </a:p>
          <a:p>
            <a:pPr algn="just" marL="431799" indent="-215899" lvl="1">
              <a:lnSpc>
                <a:spcPts val="2799"/>
              </a:lnSpc>
              <a:buAutoNum type="arabicPeriod" startAt="1"/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Dividir os dados em treino e teste;</a:t>
            </a:r>
          </a:p>
          <a:p>
            <a:pPr algn="just" marL="431799" indent="-215899" lvl="1">
              <a:lnSpc>
                <a:spcPts val="2799"/>
              </a:lnSpc>
              <a:buAutoNum type="arabicPeriod" startAt="1"/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Treinar e comparar cinco algoritmos classificadores;</a:t>
            </a:r>
          </a:p>
          <a:p>
            <a:pPr algn="just" marL="431799" indent="-215899" lvl="1">
              <a:lnSpc>
                <a:spcPts val="2799"/>
              </a:lnSpc>
              <a:buAutoNum type="arabicPeriod" startAt="1"/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Avaliar os modelos com acurácia, precision, recall e F1-score;</a:t>
            </a:r>
          </a:p>
          <a:p>
            <a:pPr algn="just" marL="431799" indent="-215899" lvl="1">
              <a:lnSpc>
                <a:spcPts val="2799"/>
              </a:lnSpc>
              <a:buAutoNum type="arabicPeriod" startAt="1"/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Escolher o melhor algoritmo;</a:t>
            </a:r>
          </a:p>
          <a:p>
            <a:pPr algn="just" marL="431799" indent="-215899" lvl="1">
              <a:lnSpc>
                <a:spcPts val="2799"/>
              </a:lnSpc>
              <a:buAutoNum type="arabicPeriod" startAt="1"/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Integrar o modelo a um front-end funcional;</a:t>
            </a:r>
          </a:p>
          <a:p>
            <a:pPr algn="just" marL="431799" indent="-215899" lvl="1">
              <a:lnSpc>
                <a:spcPts val="2799"/>
              </a:lnSpc>
              <a:buAutoNum type="arabicPeriod" startAt="1"/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Medir acertos, erros e acurácia durante a interação com o jogo.</a:t>
            </a:r>
          </a:p>
          <a:p>
            <a:pPr algn="just">
              <a:lnSpc>
                <a:spcPts val="2799"/>
              </a:lnSpc>
            </a:pPr>
          </a:p>
          <a:p>
            <a:pPr algn="just">
              <a:lnSpc>
                <a:spcPts val="2799"/>
              </a:lnSpc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 enunciado exigia pelo menos cinco classificadores, incluindo obrigatoriamente k-NN, MLP e Árvore de Decisão, além da comparação por métricas e gráficos. </a:t>
            </a:r>
          </a:p>
          <a:p>
            <a:pPr algn="just">
              <a:lnSpc>
                <a:spcPts val="27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5400000">
            <a:off x="10251749" y="2163767"/>
            <a:ext cx="10458860" cy="10477911"/>
          </a:xfrm>
          <a:custGeom>
            <a:avLst/>
            <a:gdLst/>
            <a:ahLst/>
            <a:cxnLst/>
            <a:rect r="r" b="b" t="t" l="l"/>
            <a:pathLst>
              <a:path h="10477911" w="10458860">
                <a:moveTo>
                  <a:pt x="10458860" y="0"/>
                </a:moveTo>
                <a:lnTo>
                  <a:pt x="0" y="0"/>
                </a:lnTo>
                <a:lnTo>
                  <a:pt x="0" y="10477911"/>
                </a:lnTo>
                <a:lnTo>
                  <a:pt x="10458860" y="10477911"/>
                </a:lnTo>
                <a:lnTo>
                  <a:pt x="1045886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481179" y="576468"/>
            <a:ext cx="1919429" cy="566532"/>
            <a:chOff x="0" y="0"/>
            <a:chExt cx="505529" cy="1492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357FF">
                    <a:alpha val="100000"/>
                  </a:srgbClr>
                </a:gs>
                <a:gs pos="100000">
                  <a:srgbClr val="FCAC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true" flipV="true" rot="0">
            <a:off x="545050" y="42159"/>
            <a:ext cx="2750861" cy="2750861"/>
          </a:xfrm>
          <a:custGeom>
            <a:avLst/>
            <a:gdLst/>
            <a:ahLst/>
            <a:cxnLst/>
            <a:rect r="r" b="b" t="t" l="l"/>
            <a:pathLst>
              <a:path h="2750861" w="2750861">
                <a:moveTo>
                  <a:pt x="2750862" y="2750862"/>
                </a:moveTo>
                <a:lnTo>
                  <a:pt x="0" y="2750862"/>
                </a:lnTo>
                <a:lnTo>
                  <a:pt x="0" y="0"/>
                </a:lnTo>
                <a:lnTo>
                  <a:pt x="2750862" y="0"/>
                </a:lnTo>
                <a:lnTo>
                  <a:pt x="2750862" y="275086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730249" y="663200"/>
            <a:ext cx="1421291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Page 04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20481" y="1436640"/>
            <a:ext cx="5741000" cy="1957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704"/>
              </a:lnSpc>
            </a:pPr>
            <a:r>
              <a:rPr lang="en-US" sz="6641" spc="-312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Dataset original</a:t>
            </a:r>
          </a:p>
          <a:p>
            <a:pPr algn="just" marL="0" indent="0" lvl="0">
              <a:lnSpc>
                <a:spcPts val="7704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3557627"/>
            <a:ext cx="14159241" cy="4568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9"/>
              </a:lnSpc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 dataset utilizado foi o Tic-Tac-Toe Endgame, disponível na UCI Machine Learning Repository.</a:t>
            </a:r>
          </a:p>
          <a:p>
            <a:pPr algn="just">
              <a:lnSpc>
                <a:spcPts val="2799"/>
              </a:lnSpc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Cada instância do dataset representa um estado final do tabuleiro do jogo da velha, com nove posições correspondentes às casas do tabuleiro 3x3.</a:t>
            </a:r>
          </a:p>
          <a:p>
            <a:pPr algn="just">
              <a:lnSpc>
                <a:spcPts val="2799"/>
              </a:lnSpc>
            </a:pPr>
          </a:p>
          <a:p>
            <a:pPr algn="just">
              <a:lnSpc>
                <a:spcPts val="2799"/>
              </a:lnSpc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 dataset original possuía três possíveis valores para cada posição:</a:t>
            </a:r>
          </a:p>
          <a:p>
            <a:pPr algn="just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x: posição ocupada pelo jogador X;</a:t>
            </a:r>
          </a:p>
          <a:p>
            <a:pPr algn="just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o: posição ocupada pelo jogador O;</a:t>
            </a:r>
          </a:p>
          <a:p>
            <a:pPr algn="just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b: posição vazia.</a:t>
            </a:r>
          </a:p>
          <a:p>
            <a:pPr algn="just">
              <a:lnSpc>
                <a:spcPts val="2799"/>
              </a:lnSpc>
            </a:pPr>
          </a:p>
          <a:p>
            <a:pPr algn="just">
              <a:lnSpc>
                <a:spcPts val="2799"/>
              </a:lnSpc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Entretanto, o dataset original foi construído para uma classificação binária, indicando basicamente se o jogador X venceu ou não venceu. Isso não atendia completamente ao enunciado, que exigia quatro classes: Tem jogo, X venceu, O venceu e Empate.  </a:t>
            </a:r>
          </a:p>
          <a:p>
            <a:pPr algn="just">
              <a:lnSpc>
                <a:spcPts val="27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481179" y="576468"/>
            <a:ext cx="1919429" cy="566532"/>
            <a:chOff x="0" y="0"/>
            <a:chExt cx="505529" cy="1492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357FF">
                    <a:alpha val="100000"/>
                  </a:srgbClr>
                </a:gs>
                <a:gs pos="100000">
                  <a:srgbClr val="FCAC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true" rot="-5400000">
            <a:off x="-1525342" y="-2041870"/>
            <a:ext cx="8558066" cy="8573655"/>
          </a:xfrm>
          <a:custGeom>
            <a:avLst/>
            <a:gdLst/>
            <a:ahLst/>
            <a:cxnLst/>
            <a:rect r="r" b="b" t="t" l="l"/>
            <a:pathLst>
              <a:path h="8573655" w="8558066">
                <a:moveTo>
                  <a:pt x="0" y="8573654"/>
                </a:moveTo>
                <a:lnTo>
                  <a:pt x="8558066" y="8573654"/>
                </a:lnTo>
                <a:lnTo>
                  <a:pt x="8558066" y="0"/>
                </a:lnTo>
                <a:lnTo>
                  <a:pt x="0" y="0"/>
                </a:lnTo>
                <a:lnTo>
                  <a:pt x="0" y="857365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730249" y="663200"/>
            <a:ext cx="1421291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Page 05</a:t>
            </a:r>
          </a:p>
        </p:txBody>
      </p:sp>
      <p:sp>
        <p:nvSpPr>
          <p:cNvPr name="Freeform 7" id="7"/>
          <p:cNvSpPr/>
          <p:nvPr/>
        </p:nvSpPr>
        <p:spPr>
          <a:xfrm flipH="false" flipV="true" rot="0">
            <a:off x="13580177" y="5790773"/>
            <a:ext cx="7358247" cy="7358247"/>
          </a:xfrm>
          <a:custGeom>
            <a:avLst/>
            <a:gdLst/>
            <a:ahLst/>
            <a:cxnLst/>
            <a:rect r="r" b="b" t="t" l="l"/>
            <a:pathLst>
              <a:path h="7358247" w="7358247">
                <a:moveTo>
                  <a:pt x="0" y="7358247"/>
                </a:moveTo>
                <a:lnTo>
                  <a:pt x="7358246" y="7358247"/>
                </a:lnTo>
                <a:lnTo>
                  <a:pt x="7358246" y="0"/>
                </a:lnTo>
                <a:lnTo>
                  <a:pt x="0" y="0"/>
                </a:lnTo>
                <a:lnTo>
                  <a:pt x="0" y="7358247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995186" y="1284694"/>
            <a:ext cx="12559114" cy="1957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7704"/>
              </a:lnSpc>
            </a:pPr>
            <a:r>
              <a:rPr lang="en-US" sz="6641" spc="-312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Problema encontrado no dataset</a:t>
            </a:r>
          </a:p>
          <a:p>
            <a:pPr algn="just" marL="0" indent="0" lvl="0">
              <a:lnSpc>
                <a:spcPts val="7704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491500" y="3204384"/>
            <a:ext cx="13566486" cy="5626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9"/>
              </a:lnSpc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 principal problema identificado foi que o dataset original não estava diretamente adequado ao objetivo do trabalho.</a:t>
            </a:r>
          </a:p>
          <a:p>
            <a:pPr algn="just">
              <a:lnSpc>
                <a:spcPts val="2799"/>
              </a:lnSpc>
            </a:pPr>
          </a:p>
          <a:p>
            <a:pPr algn="just">
              <a:lnSpc>
                <a:spcPts val="2799"/>
              </a:lnSpc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Ele classificava os exemplos como:</a:t>
            </a:r>
          </a:p>
          <a:p>
            <a:pPr algn="just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positive: X venceu;</a:t>
            </a:r>
          </a:p>
          <a:p>
            <a:pPr algn="just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negative: X não venceu.</a:t>
            </a:r>
          </a:p>
          <a:p>
            <a:pPr algn="just">
              <a:lnSpc>
                <a:spcPts val="2799"/>
              </a:lnSpc>
            </a:pPr>
          </a:p>
          <a:p>
            <a:pPr algn="just">
              <a:lnSpc>
                <a:spcPts val="2799"/>
              </a:lnSpc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Porém, para o trabalho, “X não venceu” não era uma classe suficiente, pois poderia significar situações diferentes:</a:t>
            </a:r>
          </a:p>
          <a:p>
            <a:pPr algn="just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 venceu;</a:t>
            </a:r>
          </a:p>
          <a:p>
            <a:pPr algn="just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Empate;</a:t>
            </a:r>
          </a:p>
          <a:p>
            <a:pPr algn="just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 jogo ainda está em andamento.</a:t>
            </a:r>
          </a:p>
          <a:p>
            <a:pPr algn="just">
              <a:lnSpc>
                <a:spcPts val="2799"/>
              </a:lnSpc>
            </a:pPr>
          </a:p>
          <a:p>
            <a:pPr algn="just">
              <a:lnSpc>
                <a:spcPts val="2799"/>
              </a:lnSpc>
              <a:spcBef>
                <a:spcPct val="0"/>
              </a:spcBef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Por isso, foi necessário realizar uma etapa de adaptação e reclassificação dos dados, criando uma nova variável alvo com as quatro classes exigidas.</a:t>
            </a:r>
          </a:p>
          <a:p>
            <a:pPr algn="just">
              <a:lnSpc>
                <a:spcPts val="27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481179" y="576468"/>
            <a:ext cx="1919429" cy="566532"/>
            <a:chOff x="0" y="0"/>
            <a:chExt cx="505529" cy="1492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357FF">
                    <a:alpha val="100000"/>
                  </a:srgbClr>
                </a:gs>
                <a:gs pos="100000">
                  <a:srgbClr val="FCAC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true" rot="-5400000">
            <a:off x="-2869895" y="-1153983"/>
            <a:ext cx="8558066" cy="8573655"/>
          </a:xfrm>
          <a:custGeom>
            <a:avLst/>
            <a:gdLst/>
            <a:ahLst/>
            <a:cxnLst/>
            <a:rect r="r" b="b" t="t" l="l"/>
            <a:pathLst>
              <a:path h="8573655" w="8558066">
                <a:moveTo>
                  <a:pt x="0" y="8573655"/>
                </a:moveTo>
                <a:lnTo>
                  <a:pt x="8558066" y="8573655"/>
                </a:lnTo>
                <a:lnTo>
                  <a:pt x="8558066" y="0"/>
                </a:lnTo>
                <a:lnTo>
                  <a:pt x="0" y="0"/>
                </a:lnTo>
                <a:lnTo>
                  <a:pt x="0" y="857365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11497756" y="7411878"/>
            <a:ext cx="5653784" cy="5653784"/>
          </a:xfrm>
          <a:custGeom>
            <a:avLst/>
            <a:gdLst/>
            <a:ahLst/>
            <a:cxnLst/>
            <a:rect r="r" b="b" t="t" l="l"/>
            <a:pathLst>
              <a:path h="5653784" w="5653784">
                <a:moveTo>
                  <a:pt x="0" y="5653783"/>
                </a:moveTo>
                <a:lnTo>
                  <a:pt x="5653783" y="5653783"/>
                </a:lnTo>
                <a:lnTo>
                  <a:pt x="5653783" y="0"/>
                </a:lnTo>
                <a:lnTo>
                  <a:pt x="0" y="0"/>
                </a:lnTo>
                <a:lnTo>
                  <a:pt x="0" y="565378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730249" y="663200"/>
            <a:ext cx="1421291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Page 06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68165" y="7973609"/>
            <a:ext cx="13360449" cy="1957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704"/>
              </a:lnSpc>
            </a:pPr>
            <a:r>
              <a:rPr lang="en-US" sz="6641" spc="-312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Modificações realizadas no dataset</a:t>
            </a:r>
          </a:p>
          <a:p>
            <a:pPr algn="just" marL="0" indent="0" lvl="0">
              <a:lnSpc>
                <a:spcPts val="7704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2017010" y="1224994"/>
            <a:ext cx="15633008" cy="6066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59"/>
              </a:lnSpc>
            </a:pPr>
            <a:r>
              <a:rPr lang="en-US" sz="18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Para adequar o dataset ao trabalho, foram realizadas as seguintes modificações:</a:t>
            </a:r>
          </a:p>
          <a:p>
            <a:pPr algn="just" marL="410209" indent="-205105" lvl="1">
              <a:lnSpc>
                <a:spcPts val="2659"/>
              </a:lnSpc>
              <a:buAutoNum type="arabicPeriod" startAt="1"/>
            </a:pPr>
            <a:r>
              <a:rPr lang="en-US" sz="18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Conversão dos valores do tabuleiro</a:t>
            </a:r>
          </a:p>
          <a:p>
            <a:pPr algn="just" marL="410209" indent="-205105" lvl="1">
              <a:lnSpc>
                <a:spcPts val="2659"/>
              </a:lnSpc>
              <a:buAutoNum type="arabicPeriod" startAt="1"/>
            </a:pPr>
            <a:r>
              <a:rPr lang="en-US" sz="18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Os valores textuais foram convertidos para representação numérica, facilitando o uso pelos algoritmos de Machine Learning.</a:t>
            </a:r>
          </a:p>
          <a:p>
            <a:pPr algn="just" marL="410209" indent="-205105" lvl="1">
              <a:lnSpc>
                <a:spcPts val="2659"/>
              </a:lnSpc>
              <a:buAutoNum type="arabicPeriod" startAt="1"/>
            </a:pPr>
            <a:r>
              <a:rPr lang="en-US" sz="18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Exemplo:</a:t>
            </a:r>
          </a:p>
          <a:p>
            <a:pPr algn="just" marL="820419" indent="-273473" lvl="2">
              <a:lnSpc>
                <a:spcPts val="2659"/>
              </a:lnSpc>
              <a:buFont typeface="Arial"/>
              <a:buChar char="⚬"/>
            </a:pPr>
            <a:r>
              <a:rPr lang="en-US" sz="18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x → jogador X;</a:t>
            </a:r>
          </a:p>
          <a:p>
            <a:pPr algn="just" marL="820419" indent="-273473" lvl="2">
              <a:lnSpc>
                <a:spcPts val="2659"/>
              </a:lnSpc>
              <a:buFont typeface="Arial"/>
              <a:buChar char="⚬"/>
            </a:pPr>
            <a:r>
              <a:rPr lang="en-US" sz="18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 → jogador O;</a:t>
            </a:r>
          </a:p>
          <a:p>
            <a:pPr algn="just" marL="820419" indent="-273473" lvl="2">
              <a:lnSpc>
                <a:spcPts val="2659"/>
              </a:lnSpc>
              <a:buFont typeface="Arial"/>
              <a:buChar char="⚬"/>
            </a:pPr>
            <a:r>
              <a:rPr lang="en-US" sz="18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b → casa vazia.</a:t>
            </a:r>
          </a:p>
          <a:p>
            <a:pPr algn="just" marL="410209" indent="-205105" lvl="1">
              <a:lnSpc>
                <a:spcPts val="2659"/>
              </a:lnSpc>
              <a:buAutoNum type="arabicPeriod" startAt="1"/>
            </a:pPr>
            <a:r>
              <a:rPr lang="en-US" sz="18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Criação das quatro classes finais</a:t>
            </a:r>
          </a:p>
          <a:p>
            <a:pPr algn="just" marL="410209" indent="-205105" lvl="1">
              <a:lnSpc>
                <a:spcPts val="2659"/>
              </a:lnSpc>
              <a:buAutoNum type="arabicPeriod" startAt="1"/>
            </a:pPr>
            <a:r>
              <a:rPr lang="en-US" sz="18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Foi criada uma lógica para identificar o estado real do jogo:</a:t>
            </a:r>
          </a:p>
          <a:p>
            <a:pPr algn="just" marL="863598" indent="-287866" lvl="2">
              <a:lnSpc>
                <a:spcPts val="2799"/>
              </a:lnSpc>
              <a:buFont typeface="Arial"/>
              <a:buChar char="⚬"/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Tem jogo;</a:t>
            </a:r>
          </a:p>
          <a:p>
            <a:pPr algn="just" marL="863598" indent="-287866" lvl="2">
              <a:lnSpc>
                <a:spcPts val="2799"/>
              </a:lnSpc>
              <a:buFont typeface="Arial"/>
              <a:buChar char="⚬"/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X venceu;</a:t>
            </a:r>
          </a:p>
          <a:p>
            <a:pPr algn="just" marL="863598" indent="-287866" lvl="2">
              <a:lnSpc>
                <a:spcPts val="2799"/>
              </a:lnSpc>
              <a:buFont typeface="Arial"/>
              <a:buChar char="⚬"/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 venceu;</a:t>
            </a:r>
          </a:p>
          <a:p>
            <a:pPr algn="just" marL="863598" indent="-287866" lvl="2">
              <a:lnSpc>
                <a:spcPts val="2799"/>
              </a:lnSpc>
              <a:buFont typeface="Arial"/>
              <a:buChar char="⚬"/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Empate.</a:t>
            </a:r>
          </a:p>
          <a:p>
            <a:pPr algn="just" marL="410209" indent="-205105" lvl="1">
              <a:lnSpc>
                <a:spcPts val="2659"/>
              </a:lnSpc>
              <a:buAutoNum type="arabicPeriod" startAt="1"/>
            </a:pPr>
            <a:r>
              <a:rPr lang="en-US" sz="18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Balanceamento das classes</a:t>
            </a:r>
          </a:p>
          <a:p>
            <a:pPr algn="just" marL="410209" indent="-205105" lvl="1">
              <a:lnSpc>
                <a:spcPts val="2659"/>
              </a:lnSpc>
              <a:buAutoNum type="arabicPeriod" startAt="1"/>
            </a:pPr>
            <a:r>
              <a:rPr lang="en-US" sz="18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Como o dataset original era desbalanceado, foi criado um dataset final com a mesma quantidade de amostras por classe.</a:t>
            </a:r>
          </a:p>
          <a:p>
            <a:pPr algn="just" marL="410209" indent="-205105" lvl="1">
              <a:lnSpc>
                <a:spcPts val="2659"/>
              </a:lnSpc>
              <a:buAutoNum type="arabicPeriod" startAt="1"/>
            </a:pPr>
            <a:r>
              <a:rPr lang="en-US" sz="18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Geração/seleção de amostras representativas</a:t>
            </a:r>
          </a:p>
          <a:p>
            <a:pPr algn="just" marL="410209" indent="-205105" lvl="1">
              <a:lnSpc>
                <a:spcPts val="2659"/>
              </a:lnSpc>
              <a:spcBef>
                <a:spcPct val="0"/>
              </a:spcBef>
              <a:buAutoNum type="arabicPeriod" startAt="1"/>
            </a:pPr>
            <a:r>
              <a:rPr lang="en-US" sz="18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 objetivo foi evitar que uma classe tivesse muito mais influência do que as outras durante o treinamento.</a:t>
            </a:r>
          </a:p>
          <a:p>
            <a:pPr algn="just">
              <a:lnSpc>
                <a:spcPts val="26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481179" y="576468"/>
            <a:ext cx="1919429" cy="566532"/>
            <a:chOff x="0" y="0"/>
            <a:chExt cx="505529" cy="1492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357FF">
                    <a:alpha val="100000"/>
                  </a:srgbClr>
                </a:gs>
                <a:gs pos="100000">
                  <a:srgbClr val="FCAC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true" rot="-5400000">
            <a:off x="-846387" y="0"/>
            <a:ext cx="7962927" cy="7962927"/>
          </a:xfrm>
          <a:custGeom>
            <a:avLst/>
            <a:gdLst/>
            <a:ahLst/>
            <a:cxnLst/>
            <a:rect r="r" b="b" t="t" l="l"/>
            <a:pathLst>
              <a:path h="7962927" w="7962927">
                <a:moveTo>
                  <a:pt x="7962927" y="7962927"/>
                </a:moveTo>
                <a:lnTo>
                  <a:pt x="0" y="7962927"/>
                </a:lnTo>
                <a:lnTo>
                  <a:pt x="0" y="0"/>
                </a:lnTo>
                <a:lnTo>
                  <a:pt x="7962927" y="0"/>
                </a:lnTo>
                <a:lnTo>
                  <a:pt x="7962927" y="796292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5400000">
            <a:off x="13064242" y="5436677"/>
            <a:ext cx="7629348" cy="7643245"/>
          </a:xfrm>
          <a:custGeom>
            <a:avLst/>
            <a:gdLst/>
            <a:ahLst/>
            <a:cxnLst/>
            <a:rect r="r" b="b" t="t" l="l"/>
            <a:pathLst>
              <a:path h="7643245" w="7629348">
                <a:moveTo>
                  <a:pt x="7629349" y="0"/>
                </a:moveTo>
                <a:lnTo>
                  <a:pt x="0" y="0"/>
                </a:lnTo>
                <a:lnTo>
                  <a:pt x="0" y="7643246"/>
                </a:lnTo>
                <a:lnTo>
                  <a:pt x="7629349" y="7643246"/>
                </a:lnTo>
                <a:lnTo>
                  <a:pt x="762934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405902" y="5143500"/>
          <a:ext cx="6290801" cy="3124200"/>
        </p:xfrm>
        <a:graphic>
          <a:graphicData uri="http://schemas.openxmlformats.org/drawingml/2006/table">
            <a:tbl>
              <a:tblPr/>
              <a:tblGrid>
                <a:gridCol w="4074664"/>
                <a:gridCol w="2216137"/>
              </a:tblGrid>
              <a:tr h="7810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Classe original identificada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Quantidade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10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X venceu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626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10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O venceu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316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10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Empate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16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8" id="8"/>
          <p:cNvSpPr txBox="true"/>
          <p:nvPr/>
        </p:nvSpPr>
        <p:spPr>
          <a:xfrm rot="0">
            <a:off x="15730249" y="663200"/>
            <a:ext cx="1421291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Page 07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1558373"/>
            <a:ext cx="5588361" cy="2929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704"/>
              </a:lnSpc>
            </a:pPr>
            <a:r>
              <a:rPr lang="en-US" sz="6641" spc="-312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Distribuição das classes</a:t>
            </a:r>
          </a:p>
          <a:p>
            <a:pPr algn="just" marL="0" indent="0" lvl="0">
              <a:lnSpc>
                <a:spcPts val="7704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405902" y="3964791"/>
            <a:ext cx="6290801" cy="1007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59"/>
              </a:lnSpc>
            </a:pPr>
            <a:r>
              <a:rPr lang="en-US" sz="18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Antes do balanceamento, o dataset original possuía uma distribuição desigual:</a:t>
            </a:r>
          </a:p>
          <a:p>
            <a:pPr algn="just">
              <a:lnSpc>
                <a:spcPts val="2799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8602411" y="2005773"/>
            <a:ext cx="8909766" cy="1007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59"/>
              </a:lnSpc>
            </a:pPr>
            <a:r>
              <a:rPr lang="en-US" sz="18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Depois do pré-processamento, o dataset final ficou balanceado com 800 amostras, distribuídas igualmente entre as quatro classes:</a:t>
            </a:r>
          </a:p>
          <a:p>
            <a:pPr algn="just">
              <a:lnSpc>
                <a:spcPts val="2799"/>
              </a:lnSpc>
              <a:spcBef>
                <a:spcPct val="0"/>
              </a:spcBef>
            </a:pPr>
          </a:p>
        </p:txBody>
      </p:sp>
      <p:graphicFrame>
        <p:nvGraphicFramePr>
          <p:cNvPr name="Table 12" id="12"/>
          <p:cNvGraphicFramePr>
            <a:graphicFrameLocks noGrp="true"/>
          </p:cNvGraphicFramePr>
          <p:nvPr/>
        </p:nvGraphicFramePr>
        <p:xfrm>
          <a:off x="8602411" y="3195638"/>
          <a:ext cx="6878769" cy="3895725"/>
        </p:xfrm>
        <a:graphic>
          <a:graphicData uri="http://schemas.openxmlformats.org/drawingml/2006/table">
            <a:tbl>
              <a:tblPr/>
              <a:tblGrid>
                <a:gridCol w="3448020"/>
                <a:gridCol w="3430749"/>
              </a:tblGrid>
              <a:tr h="77914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Classe Final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Quantidade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914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Tem jogo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200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914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X venceu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200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914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O venceu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200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914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Empate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200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3" id="13"/>
          <p:cNvSpPr txBox="true"/>
          <p:nvPr/>
        </p:nvSpPr>
        <p:spPr>
          <a:xfrm rot="0">
            <a:off x="8602411" y="7440004"/>
            <a:ext cx="8909766" cy="1007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59"/>
              </a:lnSpc>
            </a:pPr>
            <a:r>
              <a:rPr lang="en-US" sz="18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Essa decisão foi importante para reduzir o viés dos modelos, evitando que o algoritmo aprendesse melhor apenas as classes mais frequentes.</a:t>
            </a:r>
          </a:p>
          <a:p>
            <a:pPr algn="just">
              <a:lnSpc>
                <a:spcPts val="27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481179" y="576468"/>
            <a:ext cx="1919429" cy="566532"/>
            <a:chOff x="0" y="0"/>
            <a:chExt cx="505529" cy="1492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357FF">
                    <a:alpha val="100000"/>
                  </a:srgbClr>
                </a:gs>
                <a:gs pos="100000">
                  <a:srgbClr val="FCAC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true" rot="-5400000">
            <a:off x="-2900938" y="-1139739"/>
            <a:ext cx="8558066" cy="8573655"/>
          </a:xfrm>
          <a:custGeom>
            <a:avLst/>
            <a:gdLst/>
            <a:ahLst/>
            <a:cxnLst/>
            <a:rect r="r" b="b" t="t" l="l"/>
            <a:pathLst>
              <a:path h="8573655" w="8558066">
                <a:moveTo>
                  <a:pt x="0" y="8573655"/>
                </a:moveTo>
                <a:lnTo>
                  <a:pt x="8558067" y="8573655"/>
                </a:lnTo>
                <a:lnTo>
                  <a:pt x="8558067" y="0"/>
                </a:lnTo>
                <a:lnTo>
                  <a:pt x="0" y="0"/>
                </a:lnTo>
                <a:lnTo>
                  <a:pt x="0" y="857365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12020093" y="5548144"/>
            <a:ext cx="7420312" cy="7420312"/>
          </a:xfrm>
          <a:custGeom>
            <a:avLst/>
            <a:gdLst/>
            <a:ahLst/>
            <a:cxnLst/>
            <a:rect r="r" b="b" t="t" l="l"/>
            <a:pathLst>
              <a:path h="7420312" w="7420312">
                <a:moveTo>
                  <a:pt x="0" y="7420312"/>
                </a:moveTo>
                <a:lnTo>
                  <a:pt x="7420312" y="7420312"/>
                </a:lnTo>
                <a:lnTo>
                  <a:pt x="7420312" y="0"/>
                </a:lnTo>
                <a:lnTo>
                  <a:pt x="0" y="0"/>
                </a:lnTo>
                <a:lnTo>
                  <a:pt x="0" y="742031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1370136" y="3147088"/>
          <a:ext cx="7315200" cy="3095625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</a:tblGrid>
              <a:tr h="10318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Conjunto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Quantidade de amostras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318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Treino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640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318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Teste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160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8" id="8"/>
          <p:cNvSpPr txBox="true"/>
          <p:nvPr/>
        </p:nvSpPr>
        <p:spPr>
          <a:xfrm rot="0">
            <a:off x="15730249" y="663200"/>
            <a:ext cx="1421291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Page 08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527928" y="871162"/>
            <a:ext cx="9232144" cy="1957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704"/>
              </a:lnSpc>
            </a:pPr>
            <a:r>
              <a:rPr lang="en-US" sz="6641" spc="-312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Divisão dos dados</a:t>
            </a:r>
          </a:p>
          <a:p>
            <a:pPr algn="just" marL="0" indent="0" lvl="0">
              <a:lnSpc>
                <a:spcPts val="7704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370136" y="2472718"/>
            <a:ext cx="9212814" cy="674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59"/>
              </a:lnSpc>
            </a:pPr>
            <a:r>
              <a:rPr lang="en-US" sz="18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Após o pré-processamento, o dataset final foi dividido em dois conjuntos:</a:t>
            </a:r>
          </a:p>
          <a:p>
            <a:pPr algn="just">
              <a:lnSpc>
                <a:spcPts val="2799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378096" y="6804025"/>
            <a:ext cx="15062799" cy="245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9"/>
              </a:lnSpc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 divisão usada foi de aproximadamente:</a:t>
            </a:r>
          </a:p>
          <a:p>
            <a:pPr algn="just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80% para treino;</a:t>
            </a:r>
          </a:p>
          <a:p>
            <a:pPr algn="just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20% para teste.</a:t>
            </a:r>
          </a:p>
          <a:p>
            <a:pPr algn="just">
              <a:lnSpc>
                <a:spcPts val="2799"/>
              </a:lnSpc>
            </a:pPr>
          </a:p>
          <a:p>
            <a:pPr algn="just">
              <a:lnSpc>
                <a:spcPts val="2799"/>
              </a:lnSpc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 conjunto de teste ficou com 40 amostras de cada classe, mantendo o balanceamento também na avaliação final.</a:t>
            </a:r>
          </a:p>
          <a:p>
            <a:pPr algn="just">
              <a:lnSpc>
                <a:spcPts val="2799"/>
              </a:lnSpc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 mesma divisão foi usada para todos os algoritmos, garantindo uma comparação justa entre os modelos.</a:t>
            </a:r>
          </a:p>
          <a:p>
            <a:pPr algn="just">
              <a:lnSpc>
                <a:spcPts val="27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1202146" y="-1499516"/>
            <a:ext cx="8558066" cy="8573655"/>
          </a:xfrm>
          <a:custGeom>
            <a:avLst/>
            <a:gdLst/>
            <a:ahLst/>
            <a:cxnLst/>
            <a:rect r="r" b="b" t="t" l="l"/>
            <a:pathLst>
              <a:path h="8573655" w="8558066">
                <a:moveTo>
                  <a:pt x="0" y="0"/>
                </a:moveTo>
                <a:lnTo>
                  <a:pt x="8558067" y="0"/>
                </a:lnTo>
                <a:lnTo>
                  <a:pt x="8558067" y="8573654"/>
                </a:lnTo>
                <a:lnTo>
                  <a:pt x="0" y="85736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481179" y="576468"/>
            <a:ext cx="1919429" cy="566532"/>
            <a:chOff x="0" y="0"/>
            <a:chExt cx="505529" cy="1492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357FF">
                    <a:alpha val="100000"/>
                  </a:srgbClr>
                </a:gs>
                <a:gs pos="100000">
                  <a:srgbClr val="FCAC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1531851" y="2668460"/>
          <a:ext cx="9013193" cy="4151554"/>
        </p:xfrm>
        <a:graphic>
          <a:graphicData uri="http://schemas.openxmlformats.org/drawingml/2006/table">
            <a:tbl>
              <a:tblPr/>
              <a:tblGrid>
                <a:gridCol w="1634440"/>
                <a:gridCol w="7378753"/>
              </a:tblGrid>
              <a:tr h="72099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Métrica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O que mede: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099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Acurácia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Percentual geral de classificações corretas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9428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Precision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Entre as previsões de uma classe, quantas estavam corretas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9428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Recall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Entre os casos reais de uma classe, quantos foram encontrados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099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F1-Score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Média harmônica entre precision e recall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15730249" y="663200"/>
            <a:ext cx="1421291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Page 09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878784"/>
            <a:ext cx="11494488" cy="1957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704"/>
              </a:lnSpc>
            </a:pPr>
            <a:r>
              <a:rPr lang="en-US" sz="6641" spc="-312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Metodologia de avaliação</a:t>
            </a:r>
          </a:p>
          <a:p>
            <a:pPr algn="just" marL="0" indent="0" lvl="0">
              <a:lnSpc>
                <a:spcPts val="7704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531851" y="1976310"/>
            <a:ext cx="8329322" cy="69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9"/>
              </a:lnSpc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Para avaliar os algoritmos, foram utilizadas as seguintes métricas:</a:t>
            </a:r>
          </a:p>
          <a:p>
            <a:pPr algn="just">
              <a:lnSpc>
                <a:spcPts val="2799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531851" y="7516685"/>
            <a:ext cx="14909043" cy="2101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9"/>
              </a:lnSpc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 métrica principal usada para escolher o melhor modelo foi o F1-Score, pois ela considera o equilíbrio entre precision e recall.</a:t>
            </a:r>
          </a:p>
          <a:p>
            <a:pPr algn="just">
              <a:lnSpc>
                <a:spcPts val="2799"/>
              </a:lnSpc>
            </a:pPr>
          </a:p>
          <a:p>
            <a:pPr algn="just">
              <a:lnSpc>
                <a:spcPts val="2799"/>
              </a:lnSpc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Além disso, foi utilizada validação cruzada com busca de hiperparâmetros, permitindo comparar diferentes configurações dos algoritmos antes de avaliar no conjunto de teste.</a:t>
            </a:r>
          </a:p>
          <a:p>
            <a:pPr algn="just">
              <a:lnSpc>
                <a:spcPts val="27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481179" y="576468"/>
            <a:ext cx="1919429" cy="566532"/>
            <a:chOff x="0" y="0"/>
            <a:chExt cx="505529" cy="1492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357FF">
                    <a:alpha val="100000"/>
                  </a:srgbClr>
                </a:gs>
                <a:gs pos="100000">
                  <a:srgbClr val="FCAC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-5400000">
            <a:off x="11157371" y="2500334"/>
            <a:ext cx="9145756" cy="9162415"/>
          </a:xfrm>
          <a:custGeom>
            <a:avLst/>
            <a:gdLst/>
            <a:ahLst/>
            <a:cxnLst/>
            <a:rect r="r" b="b" t="t" l="l"/>
            <a:pathLst>
              <a:path h="9162415" w="9145756">
                <a:moveTo>
                  <a:pt x="9145756" y="0"/>
                </a:moveTo>
                <a:lnTo>
                  <a:pt x="0" y="0"/>
                </a:lnTo>
                <a:lnTo>
                  <a:pt x="0" y="9162415"/>
                </a:lnTo>
                <a:lnTo>
                  <a:pt x="9145756" y="9162415"/>
                </a:lnTo>
                <a:lnTo>
                  <a:pt x="914575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-1062951"/>
            <a:ext cx="7672410" cy="7672410"/>
          </a:xfrm>
          <a:custGeom>
            <a:avLst/>
            <a:gdLst/>
            <a:ahLst/>
            <a:cxnLst/>
            <a:rect r="r" b="b" t="t" l="l"/>
            <a:pathLst>
              <a:path h="7672410" w="7672410">
                <a:moveTo>
                  <a:pt x="0" y="0"/>
                </a:moveTo>
                <a:lnTo>
                  <a:pt x="7672410" y="0"/>
                </a:lnTo>
                <a:lnTo>
                  <a:pt x="7672410" y="7672409"/>
                </a:lnTo>
                <a:lnTo>
                  <a:pt x="0" y="76724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730249" y="663200"/>
            <a:ext cx="1421291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Page 10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925146" y="2025068"/>
            <a:ext cx="10753038" cy="1957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704"/>
              </a:lnSpc>
            </a:pPr>
            <a:r>
              <a:rPr lang="en-US" sz="6641" spc="-31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Algoritmos utilizados</a:t>
            </a:r>
          </a:p>
          <a:p>
            <a:pPr algn="just" marL="0" indent="0" lvl="0">
              <a:lnSpc>
                <a:spcPts val="7704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8301665" y="3944759"/>
            <a:ext cx="8139229" cy="421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9"/>
              </a:lnSpc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Foram testados cinco algoritmos classificadores:</a:t>
            </a:r>
          </a:p>
          <a:p>
            <a:pPr algn="just" marL="431799" indent="-215899" lvl="1">
              <a:lnSpc>
                <a:spcPts val="2799"/>
              </a:lnSpc>
              <a:buAutoNum type="arabicPeriod" startAt="1"/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k-NN</a:t>
            </a:r>
          </a:p>
          <a:p>
            <a:pPr algn="just" marL="431799" indent="-215899" lvl="1">
              <a:lnSpc>
                <a:spcPts val="2799"/>
              </a:lnSpc>
              <a:buAutoNum type="arabicPeriod" startAt="1"/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MLP</a:t>
            </a:r>
          </a:p>
          <a:p>
            <a:pPr algn="just" marL="431799" indent="-215899" lvl="1">
              <a:lnSpc>
                <a:spcPts val="2799"/>
              </a:lnSpc>
              <a:buAutoNum type="arabicPeriod" startAt="1"/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Árvore de Decisão</a:t>
            </a:r>
          </a:p>
          <a:p>
            <a:pPr algn="just" marL="431799" indent="-215899" lvl="1">
              <a:lnSpc>
                <a:spcPts val="2799"/>
              </a:lnSpc>
              <a:buAutoNum type="arabicPeriod" startAt="1"/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Random Forest</a:t>
            </a:r>
          </a:p>
          <a:p>
            <a:pPr algn="just" marL="431799" indent="-215899" lvl="1">
              <a:lnSpc>
                <a:spcPts val="2799"/>
              </a:lnSpc>
              <a:buAutoNum type="arabicPeriod" startAt="1"/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SVM</a:t>
            </a:r>
          </a:p>
          <a:p>
            <a:pPr algn="just">
              <a:lnSpc>
                <a:spcPts val="2799"/>
              </a:lnSpc>
            </a:pPr>
          </a:p>
          <a:p>
            <a:pPr algn="just">
              <a:lnSpc>
                <a:spcPts val="2799"/>
              </a:lnSpc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Os três primeiros atendem diretamente à exigência obrigatória do enunciado. Random Forest e SVM foram escolhidos como algoritmos adicionais por serem bastante utilizados em problemas de classificação.</a:t>
            </a:r>
          </a:p>
          <a:p>
            <a:pPr algn="just">
              <a:lnSpc>
                <a:spcPts val="27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5400000">
            <a:off x="11991655" y="3987572"/>
            <a:ext cx="6979048" cy="6991760"/>
          </a:xfrm>
          <a:custGeom>
            <a:avLst/>
            <a:gdLst/>
            <a:ahLst/>
            <a:cxnLst/>
            <a:rect r="r" b="b" t="t" l="l"/>
            <a:pathLst>
              <a:path h="6991760" w="6979048">
                <a:moveTo>
                  <a:pt x="6979048" y="0"/>
                </a:moveTo>
                <a:lnTo>
                  <a:pt x="0" y="0"/>
                </a:lnTo>
                <a:lnTo>
                  <a:pt x="0" y="6991760"/>
                </a:lnTo>
                <a:lnTo>
                  <a:pt x="6979048" y="6991760"/>
                </a:lnTo>
                <a:lnTo>
                  <a:pt x="697904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481179" y="576468"/>
            <a:ext cx="1919429" cy="566532"/>
            <a:chOff x="0" y="0"/>
            <a:chExt cx="505529" cy="1492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357FF">
                    <a:alpha val="100000"/>
                  </a:srgbClr>
                </a:gs>
                <a:gs pos="100000">
                  <a:srgbClr val="FCAC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true" rot="0">
            <a:off x="601821" y="305216"/>
            <a:ext cx="2750861" cy="2750861"/>
          </a:xfrm>
          <a:custGeom>
            <a:avLst/>
            <a:gdLst/>
            <a:ahLst/>
            <a:cxnLst/>
            <a:rect r="r" b="b" t="t" l="l"/>
            <a:pathLst>
              <a:path h="2750861" w="2750861">
                <a:moveTo>
                  <a:pt x="0" y="2750862"/>
                </a:moveTo>
                <a:lnTo>
                  <a:pt x="2750861" y="2750862"/>
                </a:lnTo>
                <a:lnTo>
                  <a:pt x="2750861" y="0"/>
                </a:lnTo>
                <a:lnTo>
                  <a:pt x="0" y="0"/>
                </a:lnTo>
                <a:lnTo>
                  <a:pt x="0" y="275086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739774" y="650878"/>
            <a:ext cx="1421291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Page 11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84021" y="1098287"/>
            <a:ext cx="7860194" cy="1957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704"/>
              </a:lnSpc>
            </a:pPr>
            <a:r>
              <a:rPr lang="en-US" sz="6641" spc="-312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GridSearchCV</a:t>
            </a:r>
          </a:p>
          <a:p>
            <a:pPr algn="just" marL="0" indent="0" lvl="0">
              <a:lnSpc>
                <a:spcPts val="7704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977252" y="2514740"/>
            <a:ext cx="12648143" cy="1044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9"/>
              </a:lnSpc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É uma ferramenta do scikit-learn que testa automaticamente todas as combinações    </a:t>
            </a:r>
          </a:p>
          <a:p>
            <a:pPr algn="just">
              <a:lnSpc>
                <a:spcPts val="2799"/>
              </a:lnSpc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possíveis de hiperparâmetros e escolhe a melhor. </a:t>
            </a:r>
          </a:p>
          <a:p>
            <a:pPr algn="just">
              <a:lnSpc>
                <a:spcPts val="2799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0377527" y="3873640"/>
            <a:ext cx="7759226" cy="5626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9"/>
              </a:lnSpc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Como funciona por dentro:                              </a:t>
            </a:r>
          </a:p>
          <a:p>
            <a:pPr algn="just">
              <a:lnSpc>
                <a:spcPts val="2799"/>
              </a:lnSpc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             </a:t>
            </a:r>
          </a:p>
          <a:p>
            <a:pPr algn="just">
              <a:lnSpc>
                <a:spcPts val="2799"/>
              </a:lnSpc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para cada combinação: </a:t>
            </a:r>
          </a:p>
          <a:p>
            <a:pPr algn="just">
              <a:lnSpc>
                <a:spcPts val="2799"/>
              </a:lnSpc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        dividir o treino em 5 partes iguais (5-fold)     </a:t>
            </a:r>
          </a:p>
          <a:p>
            <a:pPr algn="just">
              <a:lnSpc>
                <a:spcPts val="2799"/>
              </a:lnSpc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             </a:t>
            </a:r>
          </a:p>
          <a:p>
            <a:pPr algn="just">
              <a:lnSpc>
                <a:spcPts val="2799"/>
              </a:lnSpc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 para cada fold:                                  </a:t>
            </a:r>
          </a:p>
          <a:p>
            <a:pPr algn="just">
              <a:lnSpc>
                <a:spcPts val="2799"/>
              </a:lnSpc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       treinar com 4 partes                             </a:t>
            </a:r>
          </a:p>
          <a:p>
            <a:pPr algn="just">
              <a:lnSpc>
                <a:spcPts val="2799"/>
              </a:lnSpc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       testar na parte restante                           </a:t>
            </a:r>
          </a:p>
          <a:p>
            <a:pPr algn="just">
              <a:lnSpc>
                <a:spcPts val="2799"/>
              </a:lnSpc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       guardar a acurácia                             </a:t>
            </a:r>
          </a:p>
          <a:p>
            <a:pPr algn="just">
              <a:lnSpc>
                <a:spcPts val="2799"/>
              </a:lnSpc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       calcular a média das 5 acurácias                         </a:t>
            </a:r>
          </a:p>
          <a:p>
            <a:pPr algn="just">
              <a:lnSpc>
                <a:spcPts val="2799"/>
              </a:lnSpc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                              </a:t>
            </a:r>
          </a:p>
          <a:p>
            <a:pPr algn="l">
              <a:lnSpc>
                <a:spcPts val="2799"/>
              </a:lnSpc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ao final: </a:t>
            </a:r>
          </a:p>
          <a:p>
            <a:pPr algn="l">
              <a:lnSpc>
                <a:spcPts val="2799"/>
              </a:lnSpc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       escolher a combinação com maior média                    </a:t>
            </a:r>
          </a:p>
          <a:p>
            <a:pPr algn="just">
              <a:lnSpc>
                <a:spcPts val="2799"/>
              </a:lnSpc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                              </a:t>
            </a:r>
          </a:p>
          <a:p>
            <a:pPr algn="just">
              <a:lnSpc>
                <a:spcPts val="2799"/>
              </a:lnSpc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</a:p>
          <a:p>
            <a:pPr algn="just">
              <a:lnSpc>
                <a:spcPts val="2799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190773" y="3873640"/>
            <a:ext cx="7953227" cy="5626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9"/>
              </a:lnSpc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Por que usar validação cruzada dentro do GridSearch? </a:t>
            </a:r>
          </a:p>
          <a:p>
            <a:pPr algn="just">
              <a:lnSpc>
                <a:spcPts val="2799"/>
              </a:lnSpc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</a:p>
          <a:p>
            <a:pPr algn="just">
              <a:lnSpc>
                <a:spcPts val="2799"/>
              </a:lnSpc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Porque se você testasse cada combinação só uma vez, o resultado dependeria de qual parte dos dados caiu no teste. Com 5 folds, a avaliação é mais estável e menos influenciada pela sorte da divisão.</a:t>
            </a:r>
          </a:p>
          <a:p>
            <a:pPr algn="just">
              <a:lnSpc>
                <a:spcPts val="2799"/>
              </a:lnSpc>
            </a:pPr>
          </a:p>
          <a:p>
            <a:pPr algn="just">
              <a:lnSpc>
                <a:spcPts val="2799"/>
              </a:lnSpc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O que sai no final:                                 </a:t>
            </a:r>
          </a:p>
          <a:p>
            <a:pPr algn="just">
              <a:lnSpc>
                <a:spcPts val="2799"/>
              </a:lnSpc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                                           </a:t>
            </a:r>
          </a:p>
          <a:p>
            <a:pPr algn="l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grid.best_params_ → a melhor combinação encontrada</a:t>
            </a:r>
          </a:p>
          <a:p>
            <a:pPr algn="l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grid.best_score_ → a acurácia média nos 5 folds com essa combinação         </a:t>
            </a:r>
          </a:p>
          <a:p>
            <a:pPr algn="l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grid.best_estimator_ → o modelo já treinado com os melhores parâmetros, pronto para usar    </a:t>
            </a:r>
          </a:p>
          <a:p>
            <a:pPr algn="just">
              <a:lnSpc>
                <a:spcPts val="2799"/>
              </a:lnSpc>
            </a:pPr>
          </a:p>
          <a:p>
            <a:pPr algn="just">
              <a:lnSpc>
                <a:spcPts val="27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5400000">
            <a:off x="11991655" y="3987572"/>
            <a:ext cx="6979048" cy="6991760"/>
          </a:xfrm>
          <a:custGeom>
            <a:avLst/>
            <a:gdLst/>
            <a:ahLst/>
            <a:cxnLst/>
            <a:rect r="r" b="b" t="t" l="l"/>
            <a:pathLst>
              <a:path h="6991760" w="6979048">
                <a:moveTo>
                  <a:pt x="6979048" y="0"/>
                </a:moveTo>
                <a:lnTo>
                  <a:pt x="0" y="0"/>
                </a:lnTo>
                <a:lnTo>
                  <a:pt x="0" y="6991760"/>
                </a:lnTo>
                <a:lnTo>
                  <a:pt x="6979048" y="6991760"/>
                </a:lnTo>
                <a:lnTo>
                  <a:pt x="697904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481179" y="576468"/>
            <a:ext cx="1919429" cy="566532"/>
            <a:chOff x="0" y="0"/>
            <a:chExt cx="505529" cy="1492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357FF">
                    <a:alpha val="100000"/>
                  </a:srgbClr>
                </a:gs>
                <a:gs pos="100000">
                  <a:srgbClr val="FCAC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true" rot="0">
            <a:off x="601821" y="305216"/>
            <a:ext cx="2750861" cy="2750861"/>
          </a:xfrm>
          <a:custGeom>
            <a:avLst/>
            <a:gdLst/>
            <a:ahLst/>
            <a:cxnLst/>
            <a:rect r="r" b="b" t="t" l="l"/>
            <a:pathLst>
              <a:path h="2750861" w="2750861">
                <a:moveTo>
                  <a:pt x="0" y="2750862"/>
                </a:moveTo>
                <a:lnTo>
                  <a:pt x="2750861" y="2750862"/>
                </a:lnTo>
                <a:lnTo>
                  <a:pt x="2750861" y="0"/>
                </a:lnTo>
                <a:lnTo>
                  <a:pt x="0" y="0"/>
                </a:lnTo>
                <a:lnTo>
                  <a:pt x="0" y="275086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1247885" y="4311627"/>
          <a:ext cx="4855815" cy="3171825"/>
        </p:xfrm>
        <a:graphic>
          <a:graphicData uri="http://schemas.openxmlformats.org/drawingml/2006/table">
            <a:tbl>
              <a:tblPr/>
              <a:tblGrid>
                <a:gridCol w="2427907"/>
                <a:gridCol w="2427907"/>
              </a:tblGrid>
              <a:tr h="78090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Parâmetro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Valor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910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n_neighbors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090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metric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euclidean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090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weights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uniform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name="Object 8" id="8"/>
          <p:cNvGraphicFramePr/>
          <p:nvPr/>
        </p:nvGraphicFramePr>
        <p:xfrm>
          <a:off x="7529593" y="4277782"/>
          <a:ext cx="7543800" cy="3771900"/>
        </p:xfrm>
        <a:graphic>
          <a:graphicData uri="http://schemas.openxmlformats.org/presentationml/2006/ole">
            <p:oleObj imgW="9042400" imgH="5270500" r:id="rId7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9" id="9"/>
          <p:cNvSpPr txBox="true"/>
          <p:nvPr/>
        </p:nvSpPr>
        <p:spPr>
          <a:xfrm rot="0">
            <a:off x="15739774" y="650878"/>
            <a:ext cx="1421291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Page 11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84021" y="1098287"/>
            <a:ext cx="7860194" cy="1957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704"/>
              </a:lnSpc>
            </a:pPr>
            <a:r>
              <a:rPr lang="en-US" sz="6641" spc="-312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k-NN</a:t>
            </a:r>
          </a:p>
          <a:p>
            <a:pPr algn="just" marL="0" indent="0" lvl="0">
              <a:lnSpc>
                <a:spcPts val="7704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3792752" y="1250728"/>
            <a:ext cx="12648143" cy="2101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9"/>
              </a:lnSpc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 algoritmo k-NN, ou k-Nearest Neighbors, classifica uma nova amostra com base nas amostras</a:t>
            </a:r>
          </a:p>
          <a:p>
            <a:pPr algn="just">
              <a:lnSpc>
                <a:spcPts val="2799"/>
              </a:lnSpc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mais próximas do conjunto de treino.</a:t>
            </a:r>
          </a:p>
          <a:p>
            <a:pPr algn="just">
              <a:lnSpc>
                <a:spcPts val="2799"/>
              </a:lnSpc>
            </a:pPr>
          </a:p>
          <a:p>
            <a:pPr algn="just">
              <a:lnSpc>
                <a:spcPts val="2799"/>
              </a:lnSpc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 contexto do trabalho, o modelo compara o estado atual do tabuleiro com estados conhecidos do dataset e decide a classe com base nos vizinhos mais próximos.</a:t>
            </a:r>
          </a:p>
          <a:p>
            <a:pPr algn="just">
              <a:lnSpc>
                <a:spcPts val="2799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247885" y="3628803"/>
            <a:ext cx="12648143" cy="69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9"/>
              </a:lnSpc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Melhores hiperparâmetros encontrados:</a:t>
            </a:r>
          </a:p>
          <a:p>
            <a:pPr algn="just">
              <a:lnSpc>
                <a:spcPts val="2799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7571956" y="3654203"/>
            <a:ext cx="12648143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9"/>
              </a:lnSpc>
              <a:spcBef>
                <a:spcPct val="0"/>
              </a:spcBef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Resultado: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84021" y="8295436"/>
            <a:ext cx="14880536" cy="174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9"/>
              </a:lnSpc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Justificativa:</a:t>
            </a:r>
          </a:p>
          <a:p>
            <a:pPr algn="just">
              <a:lnSpc>
                <a:spcPts val="2799"/>
              </a:lnSpc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Com k=3 vizinhos e peso uniforme, o modelo consulta os 3 tabuleiros mais parecidos e vota com peso igual. </a:t>
            </a:r>
          </a:p>
          <a:p>
            <a:pPr algn="just">
              <a:lnSpc>
                <a:spcPts val="2799"/>
              </a:lnSpc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 distância euclidiana foi a melhor métrica para comparar estados do tabuleiro. </a:t>
            </a:r>
          </a:p>
          <a:p>
            <a:pPr algn="just">
              <a:lnSpc>
                <a:spcPts val="2799"/>
              </a:lnSpc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Um k pequeno funciona bem porque tabuleiros da mesma classe tendem a ser muito similares entre si</a:t>
            </a:r>
          </a:p>
          <a:p>
            <a:pPr algn="just">
              <a:lnSpc>
                <a:spcPts val="27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5400000">
            <a:off x="11991655" y="3987572"/>
            <a:ext cx="6979048" cy="6991760"/>
          </a:xfrm>
          <a:custGeom>
            <a:avLst/>
            <a:gdLst/>
            <a:ahLst/>
            <a:cxnLst/>
            <a:rect r="r" b="b" t="t" l="l"/>
            <a:pathLst>
              <a:path h="6991760" w="6979048">
                <a:moveTo>
                  <a:pt x="6979048" y="0"/>
                </a:moveTo>
                <a:lnTo>
                  <a:pt x="0" y="0"/>
                </a:lnTo>
                <a:lnTo>
                  <a:pt x="0" y="6991760"/>
                </a:lnTo>
                <a:lnTo>
                  <a:pt x="6979048" y="6991760"/>
                </a:lnTo>
                <a:lnTo>
                  <a:pt x="697904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481179" y="576468"/>
            <a:ext cx="1919429" cy="566532"/>
            <a:chOff x="0" y="0"/>
            <a:chExt cx="505529" cy="1492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357FF">
                    <a:alpha val="100000"/>
                  </a:srgbClr>
                </a:gs>
                <a:gs pos="100000">
                  <a:srgbClr val="FCAC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true" rot="0">
            <a:off x="601821" y="305216"/>
            <a:ext cx="2750861" cy="2750861"/>
          </a:xfrm>
          <a:custGeom>
            <a:avLst/>
            <a:gdLst/>
            <a:ahLst/>
            <a:cxnLst/>
            <a:rect r="r" b="b" t="t" l="l"/>
            <a:pathLst>
              <a:path h="2750861" w="2750861">
                <a:moveTo>
                  <a:pt x="0" y="2750862"/>
                </a:moveTo>
                <a:lnTo>
                  <a:pt x="2750861" y="2750862"/>
                </a:lnTo>
                <a:lnTo>
                  <a:pt x="2750861" y="0"/>
                </a:lnTo>
                <a:lnTo>
                  <a:pt x="0" y="0"/>
                </a:lnTo>
                <a:lnTo>
                  <a:pt x="0" y="275086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1028700" y="4311627"/>
          <a:ext cx="5501878" cy="3171825"/>
        </p:xfrm>
        <a:graphic>
          <a:graphicData uri="http://schemas.openxmlformats.org/drawingml/2006/table">
            <a:tbl>
              <a:tblPr/>
              <a:tblGrid>
                <a:gridCol w="3076224"/>
                <a:gridCol w="2425655"/>
              </a:tblGrid>
              <a:tr h="78090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Item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Valor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910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Camadas ocultas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090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Função de ativação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ReLU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090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Alpha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0.0001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name="Object 8" id="8"/>
          <p:cNvGraphicFramePr/>
          <p:nvPr/>
        </p:nvGraphicFramePr>
        <p:xfrm>
          <a:off x="7529593" y="4127500"/>
          <a:ext cx="7543800" cy="3771900"/>
        </p:xfrm>
        <a:graphic>
          <a:graphicData uri="http://schemas.openxmlformats.org/presentationml/2006/ole">
            <p:oleObj imgW="9042400" imgH="5270500" r:id="rId7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9" id="9"/>
          <p:cNvSpPr txBox="true"/>
          <p:nvPr/>
        </p:nvSpPr>
        <p:spPr>
          <a:xfrm rot="0">
            <a:off x="15739774" y="650878"/>
            <a:ext cx="1421291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Page 12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84021" y="1098287"/>
            <a:ext cx="7860194" cy="1957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704"/>
              </a:lnSpc>
            </a:pPr>
            <a:r>
              <a:rPr lang="en-US" sz="6641" spc="-312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MLP</a:t>
            </a:r>
          </a:p>
          <a:p>
            <a:pPr algn="just" marL="0" indent="0" lvl="0">
              <a:lnSpc>
                <a:spcPts val="7704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4265500" y="1498489"/>
            <a:ext cx="12648143" cy="2101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9"/>
              </a:lnSpc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 MLP, ou Multilayer Perceptron, é uma rede neural artificial composta por camadas de neurônios. Ela aprende padrões a partir dos dados de entrada e ajusta pesos internos durante o treinamento.</a:t>
            </a:r>
          </a:p>
          <a:p>
            <a:pPr algn="just">
              <a:lnSpc>
                <a:spcPts val="2799"/>
              </a:lnSpc>
            </a:pPr>
          </a:p>
          <a:p>
            <a:pPr algn="just">
              <a:lnSpc>
                <a:spcPts val="2799"/>
              </a:lnSpc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 trabalho, a MLP recebeu como entrada as nove posições do tabuleiro e aprendeu a associar diferentes combinações às quatro classes possíveis.</a:t>
            </a:r>
          </a:p>
          <a:p>
            <a:pPr algn="just">
              <a:lnSpc>
                <a:spcPts val="2799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247885" y="3628803"/>
            <a:ext cx="12648143" cy="69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9"/>
              </a:lnSpc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Topologia usada:</a:t>
            </a:r>
          </a:p>
          <a:p>
            <a:pPr algn="just">
              <a:lnSpc>
                <a:spcPts val="2799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7571956" y="3654203"/>
            <a:ext cx="12648143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9"/>
              </a:lnSpc>
              <a:spcBef>
                <a:spcPct val="0"/>
              </a:spcBef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Resultado: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47885" y="7861300"/>
            <a:ext cx="13825508" cy="139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9"/>
              </a:lnSpc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Observação:</a:t>
            </a:r>
          </a:p>
          <a:p>
            <a:pPr algn="just">
              <a:lnSpc>
                <a:spcPts val="2799"/>
              </a:lnSpc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Durante o treinamento apareceu um aviso de convergência, indicando que algumas execuções atingiram o limite de iterações. Mesmo assim, o desempenho final no teste foi bom.</a:t>
            </a:r>
          </a:p>
          <a:p>
            <a:pPr algn="just">
              <a:lnSpc>
                <a:spcPts val="27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5400000">
            <a:off x="11991655" y="3987572"/>
            <a:ext cx="6979048" cy="6991760"/>
          </a:xfrm>
          <a:custGeom>
            <a:avLst/>
            <a:gdLst/>
            <a:ahLst/>
            <a:cxnLst/>
            <a:rect r="r" b="b" t="t" l="l"/>
            <a:pathLst>
              <a:path h="6991760" w="6979048">
                <a:moveTo>
                  <a:pt x="6979048" y="0"/>
                </a:moveTo>
                <a:lnTo>
                  <a:pt x="0" y="0"/>
                </a:lnTo>
                <a:lnTo>
                  <a:pt x="0" y="6991760"/>
                </a:lnTo>
                <a:lnTo>
                  <a:pt x="6979048" y="6991760"/>
                </a:lnTo>
                <a:lnTo>
                  <a:pt x="697904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481179" y="576468"/>
            <a:ext cx="1919429" cy="566532"/>
            <a:chOff x="0" y="0"/>
            <a:chExt cx="505529" cy="1492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357FF">
                    <a:alpha val="100000"/>
                  </a:srgbClr>
                </a:gs>
                <a:gs pos="100000">
                  <a:srgbClr val="FCAC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true" rot="0">
            <a:off x="601821" y="305216"/>
            <a:ext cx="2750861" cy="2750861"/>
          </a:xfrm>
          <a:custGeom>
            <a:avLst/>
            <a:gdLst/>
            <a:ahLst/>
            <a:cxnLst/>
            <a:rect r="r" b="b" t="t" l="l"/>
            <a:pathLst>
              <a:path h="2750861" w="2750861">
                <a:moveTo>
                  <a:pt x="0" y="2750862"/>
                </a:moveTo>
                <a:lnTo>
                  <a:pt x="2750861" y="2750862"/>
                </a:lnTo>
                <a:lnTo>
                  <a:pt x="2750861" y="0"/>
                </a:lnTo>
                <a:lnTo>
                  <a:pt x="0" y="0"/>
                </a:lnTo>
                <a:lnTo>
                  <a:pt x="0" y="275086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36309" y="324266"/>
            <a:ext cx="3432747" cy="3900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704"/>
              </a:lnSpc>
            </a:pPr>
            <a:r>
              <a:rPr lang="en-US" sz="6641" spc="-312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Árvore de Decisão</a:t>
            </a:r>
          </a:p>
          <a:p>
            <a:pPr algn="just" marL="0" indent="0" lvl="0">
              <a:lnSpc>
                <a:spcPts val="7704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3628803"/>
            <a:ext cx="12648143" cy="69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9"/>
              </a:lnSpc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Melhores hiperparâmetros encontrados:</a:t>
            </a:r>
          </a:p>
          <a:p>
            <a:pPr algn="just">
              <a:lnSpc>
                <a:spcPts val="2799"/>
              </a:lnSpc>
              <a:spcBef>
                <a:spcPct val="0"/>
              </a:spcBef>
            </a:pPr>
          </a:p>
        </p:txBody>
      </p:sp>
      <p:graphicFrame>
        <p:nvGraphicFramePr>
          <p:cNvPr name="Table 9" id="9"/>
          <p:cNvGraphicFramePr>
            <a:graphicFrameLocks noGrp="true"/>
          </p:cNvGraphicFramePr>
          <p:nvPr/>
        </p:nvGraphicFramePr>
        <p:xfrm>
          <a:off x="1028700" y="4209939"/>
          <a:ext cx="5990063" cy="3648075"/>
        </p:xfrm>
        <a:graphic>
          <a:graphicData uri="http://schemas.openxmlformats.org/drawingml/2006/table">
            <a:tbl>
              <a:tblPr/>
              <a:tblGrid>
                <a:gridCol w="4596134"/>
                <a:gridCol w="1393929"/>
              </a:tblGrid>
              <a:tr h="72191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Parâmetro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Valor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041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criterion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gini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191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max_depth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none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191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min_samples_leaf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191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min_samples_split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name="Object 10" id="10"/>
          <p:cNvGraphicFramePr/>
          <p:nvPr/>
        </p:nvGraphicFramePr>
        <p:xfrm>
          <a:off x="8160639" y="4209939"/>
          <a:ext cx="7543800" cy="3771900"/>
        </p:xfrm>
        <a:graphic>
          <a:graphicData uri="http://schemas.openxmlformats.org/presentationml/2006/ole">
            <p:oleObj imgW="9042400" imgH="5270500" r:id="rId7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1" id="11"/>
          <p:cNvSpPr txBox="true"/>
          <p:nvPr/>
        </p:nvSpPr>
        <p:spPr>
          <a:xfrm rot="0">
            <a:off x="15739774" y="650878"/>
            <a:ext cx="1421291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Page 13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069056" y="1195211"/>
            <a:ext cx="11170472" cy="2101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9"/>
              </a:lnSpc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 Árvore de Decisão classifica os dados por meio de regras sucessivas. Ela separa os exemplos com base em atributos do tabuleiro até chegar a uma decisão final.</a:t>
            </a:r>
          </a:p>
          <a:p>
            <a:pPr algn="just">
              <a:lnSpc>
                <a:spcPts val="2799"/>
              </a:lnSpc>
            </a:pPr>
          </a:p>
          <a:p>
            <a:pPr algn="just">
              <a:lnSpc>
                <a:spcPts val="2799"/>
              </a:lnSpc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No contexto do jogo da velha, a árvore tenta criar regras como: se determinadas posições possuem X ou O, então o estado pertence a certa classe.</a:t>
            </a:r>
          </a:p>
          <a:p>
            <a:pPr algn="just">
              <a:lnSpc>
                <a:spcPts val="2799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8160639" y="3654203"/>
            <a:ext cx="12648143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9"/>
              </a:lnSpc>
              <a:spcBef>
                <a:spcPct val="0"/>
              </a:spcBef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Resultado: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8038989"/>
            <a:ext cx="14452479" cy="139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9"/>
              </a:lnSpc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Análise:</a:t>
            </a:r>
          </a:p>
          <a:p>
            <a:pPr algn="just">
              <a:lnSpc>
                <a:spcPts val="2799"/>
              </a:lnSpc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Foi o modelo com menor desempenho geral. Isso pode ter ocorrido porque uma única árvore tende a criar regras rígidas demais e pode não capturar bem todas as combinações possíveis do tabuleiro.</a:t>
            </a:r>
          </a:p>
          <a:p>
            <a:pPr algn="just">
              <a:lnSpc>
                <a:spcPts val="27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5400000">
            <a:off x="11991655" y="3987572"/>
            <a:ext cx="6979048" cy="6991760"/>
          </a:xfrm>
          <a:custGeom>
            <a:avLst/>
            <a:gdLst/>
            <a:ahLst/>
            <a:cxnLst/>
            <a:rect r="r" b="b" t="t" l="l"/>
            <a:pathLst>
              <a:path h="6991760" w="6979048">
                <a:moveTo>
                  <a:pt x="6979048" y="0"/>
                </a:moveTo>
                <a:lnTo>
                  <a:pt x="0" y="0"/>
                </a:lnTo>
                <a:lnTo>
                  <a:pt x="0" y="6991760"/>
                </a:lnTo>
                <a:lnTo>
                  <a:pt x="6979048" y="6991760"/>
                </a:lnTo>
                <a:lnTo>
                  <a:pt x="697904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481179" y="576468"/>
            <a:ext cx="1919429" cy="566532"/>
            <a:chOff x="0" y="0"/>
            <a:chExt cx="505529" cy="1492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357FF">
                    <a:alpha val="100000"/>
                  </a:srgbClr>
                </a:gs>
                <a:gs pos="100000">
                  <a:srgbClr val="FCAC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true" rot="0">
            <a:off x="601821" y="305216"/>
            <a:ext cx="2750861" cy="2750861"/>
          </a:xfrm>
          <a:custGeom>
            <a:avLst/>
            <a:gdLst/>
            <a:ahLst/>
            <a:cxnLst/>
            <a:rect r="r" b="b" t="t" l="l"/>
            <a:pathLst>
              <a:path h="2750861" w="2750861">
                <a:moveTo>
                  <a:pt x="0" y="2750862"/>
                </a:moveTo>
                <a:lnTo>
                  <a:pt x="2750861" y="2750862"/>
                </a:lnTo>
                <a:lnTo>
                  <a:pt x="2750861" y="0"/>
                </a:lnTo>
                <a:lnTo>
                  <a:pt x="0" y="0"/>
                </a:lnTo>
                <a:lnTo>
                  <a:pt x="0" y="275086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762963"/>
            <a:ext cx="3531869" cy="2929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704"/>
              </a:lnSpc>
            </a:pPr>
            <a:r>
              <a:rPr lang="en-US" sz="6641" spc="-312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Random Forest</a:t>
            </a:r>
          </a:p>
          <a:p>
            <a:pPr algn="just" marL="0" indent="0" lvl="0">
              <a:lnSpc>
                <a:spcPts val="7704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3628803"/>
            <a:ext cx="12648143" cy="69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9"/>
              </a:lnSpc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Melhores hiperparâmetros encontrados:</a:t>
            </a:r>
          </a:p>
          <a:p>
            <a:pPr algn="just">
              <a:lnSpc>
                <a:spcPts val="2799"/>
              </a:lnSpc>
              <a:spcBef>
                <a:spcPct val="0"/>
              </a:spcBef>
            </a:pPr>
          </a:p>
        </p:txBody>
      </p:sp>
      <p:graphicFrame>
        <p:nvGraphicFramePr>
          <p:cNvPr name="Table 9" id="9"/>
          <p:cNvGraphicFramePr>
            <a:graphicFrameLocks noGrp="true"/>
          </p:cNvGraphicFramePr>
          <p:nvPr/>
        </p:nvGraphicFramePr>
        <p:xfrm>
          <a:off x="1028700" y="4209939"/>
          <a:ext cx="5990063" cy="3648075"/>
        </p:xfrm>
        <a:graphic>
          <a:graphicData uri="http://schemas.openxmlformats.org/drawingml/2006/table">
            <a:tbl>
              <a:tblPr/>
              <a:tblGrid>
                <a:gridCol w="4596134"/>
                <a:gridCol w="1393929"/>
              </a:tblGrid>
              <a:tr h="72191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Parâmetro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Valor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041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n_estimators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50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191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criterion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gini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191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max_depth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10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191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min_samples_split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name="Object 10" id="10"/>
          <p:cNvGraphicFramePr/>
          <p:nvPr/>
        </p:nvGraphicFramePr>
        <p:xfrm>
          <a:off x="8160639" y="4241578"/>
          <a:ext cx="7543800" cy="3771900"/>
        </p:xfrm>
        <a:graphic>
          <a:graphicData uri="http://schemas.openxmlformats.org/presentationml/2006/ole">
            <p:oleObj imgW="9042400" imgH="5270500" r:id="rId7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1" id="11"/>
          <p:cNvSpPr txBox="true"/>
          <p:nvPr/>
        </p:nvSpPr>
        <p:spPr>
          <a:xfrm rot="0">
            <a:off x="15739774" y="650878"/>
            <a:ext cx="1421291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Page 14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560569" y="1345978"/>
            <a:ext cx="12359935" cy="2101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9"/>
              </a:lnSpc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 Random Forest é um algoritmo baseado em várias árvores de decisão. Em vez de depender de uma única árvore, ele cria várias árvores e combina suas decisões.</a:t>
            </a:r>
          </a:p>
          <a:p>
            <a:pPr algn="just">
              <a:lnSpc>
                <a:spcPts val="2799"/>
              </a:lnSpc>
            </a:pPr>
          </a:p>
          <a:p>
            <a:pPr algn="just">
              <a:lnSpc>
                <a:spcPts val="2799"/>
              </a:lnSpc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Isso geralmente melhora a estabilidade e reduz o risco de overfitting em comparação com uma árvore individual.</a:t>
            </a:r>
          </a:p>
          <a:p>
            <a:pPr algn="just">
              <a:lnSpc>
                <a:spcPts val="2799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8160639" y="3654203"/>
            <a:ext cx="12648143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9"/>
              </a:lnSpc>
              <a:spcBef>
                <a:spcPct val="0"/>
              </a:spcBef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Resultado: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8038989"/>
            <a:ext cx="14452479" cy="139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9"/>
              </a:lnSpc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Análise:</a:t>
            </a:r>
          </a:p>
          <a:p>
            <a:pPr algn="just">
              <a:lnSpc>
                <a:spcPts val="2799"/>
              </a:lnSpc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 Random Forest teve desempenho superior à Árvore de Decisão, mostrando que o uso de múltiplas árvores trouxe maior capacidade de generalização.</a:t>
            </a:r>
          </a:p>
          <a:p>
            <a:pPr algn="just">
              <a:lnSpc>
                <a:spcPts val="27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5400000">
            <a:off x="11991655" y="3987572"/>
            <a:ext cx="6979048" cy="6991760"/>
          </a:xfrm>
          <a:custGeom>
            <a:avLst/>
            <a:gdLst/>
            <a:ahLst/>
            <a:cxnLst/>
            <a:rect r="r" b="b" t="t" l="l"/>
            <a:pathLst>
              <a:path h="6991760" w="6979048">
                <a:moveTo>
                  <a:pt x="6979048" y="0"/>
                </a:moveTo>
                <a:lnTo>
                  <a:pt x="0" y="0"/>
                </a:lnTo>
                <a:lnTo>
                  <a:pt x="0" y="6991760"/>
                </a:lnTo>
                <a:lnTo>
                  <a:pt x="6979048" y="6991760"/>
                </a:lnTo>
                <a:lnTo>
                  <a:pt x="697904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481179" y="576468"/>
            <a:ext cx="1919429" cy="566532"/>
            <a:chOff x="0" y="0"/>
            <a:chExt cx="505529" cy="1492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357FF">
                    <a:alpha val="100000"/>
                  </a:srgbClr>
                </a:gs>
                <a:gs pos="100000">
                  <a:srgbClr val="FCAC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true" rot="0">
            <a:off x="601821" y="305216"/>
            <a:ext cx="2750861" cy="2750861"/>
          </a:xfrm>
          <a:custGeom>
            <a:avLst/>
            <a:gdLst/>
            <a:ahLst/>
            <a:cxnLst/>
            <a:rect r="r" b="b" t="t" l="l"/>
            <a:pathLst>
              <a:path h="2750861" w="2750861">
                <a:moveTo>
                  <a:pt x="0" y="2750862"/>
                </a:moveTo>
                <a:lnTo>
                  <a:pt x="2750861" y="2750862"/>
                </a:lnTo>
                <a:lnTo>
                  <a:pt x="2750861" y="0"/>
                </a:lnTo>
                <a:lnTo>
                  <a:pt x="0" y="0"/>
                </a:lnTo>
                <a:lnTo>
                  <a:pt x="0" y="275086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1028700" y="4311627"/>
          <a:ext cx="5501878" cy="3171825"/>
        </p:xfrm>
        <a:graphic>
          <a:graphicData uri="http://schemas.openxmlformats.org/drawingml/2006/table">
            <a:tbl>
              <a:tblPr/>
              <a:tblGrid>
                <a:gridCol w="3076224"/>
                <a:gridCol w="2425655"/>
              </a:tblGrid>
              <a:tr h="78090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Parâmetro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Valor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910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kernel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rbf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090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C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10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090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gamma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scale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name="Object 8" id="8"/>
          <p:cNvGraphicFramePr/>
          <p:nvPr/>
        </p:nvGraphicFramePr>
        <p:xfrm>
          <a:off x="7529593" y="4127500"/>
          <a:ext cx="7543800" cy="3771900"/>
        </p:xfrm>
        <a:graphic>
          <a:graphicData uri="http://schemas.openxmlformats.org/presentationml/2006/ole">
            <p:oleObj imgW="9042400" imgH="5270500" r:id="rId7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9" id="9"/>
          <p:cNvSpPr txBox="true"/>
          <p:nvPr/>
        </p:nvSpPr>
        <p:spPr>
          <a:xfrm rot="0">
            <a:off x="15739774" y="650878"/>
            <a:ext cx="1421291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Page 15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1162050"/>
            <a:ext cx="7860194" cy="1957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704"/>
              </a:lnSpc>
            </a:pPr>
            <a:r>
              <a:rPr lang="en-US" sz="6641" spc="-312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SVM</a:t>
            </a:r>
          </a:p>
          <a:p>
            <a:pPr algn="just" marL="0" indent="0" lvl="0">
              <a:lnSpc>
                <a:spcPts val="7704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4265500" y="1498489"/>
            <a:ext cx="12648143" cy="2101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9"/>
              </a:lnSpc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 SVM, ou Support Vector Machine, busca encontrar a melhor separação entre as classes. Com o kernel RBF, ele consegue criar fronteiras de decisão não lineares.</a:t>
            </a:r>
          </a:p>
          <a:p>
            <a:pPr algn="just">
              <a:lnSpc>
                <a:spcPts val="2799"/>
              </a:lnSpc>
            </a:pPr>
          </a:p>
          <a:p>
            <a:pPr algn="just">
              <a:lnSpc>
                <a:spcPts val="2799"/>
              </a:lnSpc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Isso foi útil para o problema, pois as combinações possíveis do tabuleiro não seguem uma separação simples.</a:t>
            </a:r>
          </a:p>
          <a:p>
            <a:pPr algn="just">
              <a:lnSpc>
                <a:spcPts val="2799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3654203"/>
            <a:ext cx="12648143" cy="69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9"/>
              </a:lnSpc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Melhores hiperparâmetros encontrados:</a:t>
            </a:r>
          </a:p>
          <a:p>
            <a:pPr algn="just">
              <a:lnSpc>
                <a:spcPts val="2799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7571956" y="3654203"/>
            <a:ext cx="12648143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9"/>
              </a:lnSpc>
              <a:spcBef>
                <a:spcPct val="0"/>
              </a:spcBef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Resultado: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47885" y="7861300"/>
            <a:ext cx="13825508" cy="139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9"/>
              </a:lnSpc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Análise:</a:t>
            </a:r>
          </a:p>
          <a:p>
            <a:pPr algn="just">
              <a:lnSpc>
                <a:spcPts val="2799"/>
              </a:lnSpc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 SVM apresentou o melhor desempenho geral, com maior acurácia e maior F1-Score entre todos os modelos testados.</a:t>
            </a:r>
          </a:p>
          <a:p>
            <a:pPr algn="just">
              <a:lnSpc>
                <a:spcPts val="27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5400000">
            <a:off x="10251749" y="2163767"/>
            <a:ext cx="10458860" cy="10477911"/>
          </a:xfrm>
          <a:custGeom>
            <a:avLst/>
            <a:gdLst/>
            <a:ahLst/>
            <a:cxnLst/>
            <a:rect r="r" b="b" t="t" l="l"/>
            <a:pathLst>
              <a:path h="10477911" w="10458860">
                <a:moveTo>
                  <a:pt x="10458860" y="0"/>
                </a:moveTo>
                <a:lnTo>
                  <a:pt x="0" y="0"/>
                </a:lnTo>
                <a:lnTo>
                  <a:pt x="0" y="10477911"/>
                </a:lnTo>
                <a:lnTo>
                  <a:pt x="10458860" y="10477911"/>
                </a:lnTo>
                <a:lnTo>
                  <a:pt x="1045886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481179" y="576468"/>
            <a:ext cx="1919429" cy="566532"/>
            <a:chOff x="0" y="0"/>
            <a:chExt cx="505529" cy="1492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357FF">
                    <a:alpha val="100000"/>
                  </a:srgbClr>
                </a:gs>
                <a:gs pos="100000">
                  <a:srgbClr val="FCAC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true" flipV="true" rot="0">
            <a:off x="545050" y="42159"/>
            <a:ext cx="2750861" cy="2750861"/>
          </a:xfrm>
          <a:custGeom>
            <a:avLst/>
            <a:gdLst/>
            <a:ahLst/>
            <a:cxnLst/>
            <a:rect r="r" b="b" t="t" l="l"/>
            <a:pathLst>
              <a:path h="2750861" w="2750861">
                <a:moveTo>
                  <a:pt x="2750862" y="2750862"/>
                </a:moveTo>
                <a:lnTo>
                  <a:pt x="0" y="2750862"/>
                </a:lnTo>
                <a:lnTo>
                  <a:pt x="0" y="0"/>
                </a:lnTo>
                <a:lnTo>
                  <a:pt x="2750862" y="0"/>
                </a:lnTo>
                <a:lnTo>
                  <a:pt x="2750862" y="275086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7" id="7"/>
          <p:cNvGraphicFramePr/>
          <p:nvPr/>
        </p:nvGraphicFramePr>
        <p:xfrm>
          <a:off x="3077890" y="3012451"/>
          <a:ext cx="9429750" cy="3771900"/>
        </p:xfrm>
        <a:graphic>
          <a:graphicData uri="http://schemas.openxmlformats.org/presentationml/2006/ole">
            <p:oleObj imgW="11315700" imgH="5651500" r:id="rId7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8" id="8"/>
          <p:cNvSpPr txBox="true"/>
          <p:nvPr/>
        </p:nvSpPr>
        <p:spPr>
          <a:xfrm rot="0">
            <a:off x="15730249" y="663200"/>
            <a:ext cx="1421291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Page 16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20481" y="1162050"/>
            <a:ext cx="12877780" cy="1957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704"/>
              </a:lnSpc>
            </a:pPr>
            <a:r>
              <a:rPr lang="en-US" sz="6641" spc="-312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Comparação geral dos modelos</a:t>
            </a:r>
          </a:p>
          <a:p>
            <a:pPr algn="just" marL="0" indent="0" lvl="0">
              <a:lnSpc>
                <a:spcPts val="7704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279751" y="7861300"/>
            <a:ext cx="14159241" cy="139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9"/>
              </a:lnSpc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 gráfico comparativo mostrou que o SVM teve o melhor desempenho nas quatro métricas avaliadas. A MLP também obteve resultado alto, ficando em segundo lugar. Random Forest ficou em uma posição intermediária, enquanto k-NN e Árvore de Decisão tiveram desempenho inferior.</a:t>
            </a:r>
          </a:p>
          <a:p>
            <a:pPr algn="just">
              <a:lnSpc>
                <a:spcPts val="27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5400000">
            <a:off x="10251749" y="2163767"/>
            <a:ext cx="10458860" cy="10477911"/>
          </a:xfrm>
          <a:custGeom>
            <a:avLst/>
            <a:gdLst/>
            <a:ahLst/>
            <a:cxnLst/>
            <a:rect r="r" b="b" t="t" l="l"/>
            <a:pathLst>
              <a:path h="10477911" w="10458860">
                <a:moveTo>
                  <a:pt x="10458860" y="0"/>
                </a:moveTo>
                <a:lnTo>
                  <a:pt x="0" y="0"/>
                </a:lnTo>
                <a:lnTo>
                  <a:pt x="0" y="10477911"/>
                </a:lnTo>
                <a:lnTo>
                  <a:pt x="10458860" y="10477911"/>
                </a:lnTo>
                <a:lnTo>
                  <a:pt x="1045886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481179" y="576468"/>
            <a:ext cx="1919429" cy="566532"/>
            <a:chOff x="0" y="0"/>
            <a:chExt cx="505529" cy="1492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357FF">
                    <a:alpha val="100000"/>
                  </a:srgbClr>
                </a:gs>
                <a:gs pos="100000">
                  <a:srgbClr val="FCAC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true" flipV="true" rot="0">
            <a:off x="545050" y="42159"/>
            <a:ext cx="2750861" cy="2750861"/>
          </a:xfrm>
          <a:custGeom>
            <a:avLst/>
            <a:gdLst/>
            <a:ahLst/>
            <a:cxnLst/>
            <a:rect r="r" b="b" t="t" l="l"/>
            <a:pathLst>
              <a:path h="2750861" w="2750861">
                <a:moveTo>
                  <a:pt x="2750862" y="2750862"/>
                </a:moveTo>
                <a:lnTo>
                  <a:pt x="0" y="2750862"/>
                </a:lnTo>
                <a:lnTo>
                  <a:pt x="0" y="0"/>
                </a:lnTo>
                <a:lnTo>
                  <a:pt x="2750862" y="0"/>
                </a:lnTo>
                <a:lnTo>
                  <a:pt x="2750862" y="275086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1920481" y="3411747"/>
          <a:ext cx="7116956" cy="3990975"/>
        </p:xfrm>
        <a:graphic>
          <a:graphicData uri="http://schemas.openxmlformats.org/drawingml/2006/table">
            <a:tbl>
              <a:tblPr/>
              <a:tblGrid>
                <a:gridCol w="3557075"/>
                <a:gridCol w="3559881"/>
              </a:tblGrid>
              <a:tr h="79819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Critério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Resultado do SVM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819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Acurácia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91,25%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819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Precision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0.9113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819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Recall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0.9125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819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F1-Score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0.9115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8" id="8"/>
          <p:cNvSpPr txBox="true"/>
          <p:nvPr/>
        </p:nvSpPr>
        <p:spPr>
          <a:xfrm rot="0">
            <a:off x="15730249" y="663200"/>
            <a:ext cx="1421291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Page 17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20481" y="1162050"/>
            <a:ext cx="12877780" cy="1957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704"/>
              </a:lnSpc>
            </a:pPr>
            <a:r>
              <a:rPr lang="en-US" sz="6641" spc="-312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Escolha do melhor modelo</a:t>
            </a:r>
          </a:p>
          <a:p>
            <a:pPr algn="just" marL="0" indent="0" lvl="0">
              <a:lnSpc>
                <a:spcPts val="7704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920481" y="2754921"/>
            <a:ext cx="14159241" cy="69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9"/>
              </a:lnSpc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 modelo escolhido foi o SVM, pois apresentou os melhores resultados no conjunto de teste.</a:t>
            </a:r>
          </a:p>
          <a:p>
            <a:pPr algn="just">
              <a:lnSpc>
                <a:spcPts val="2799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920481" y="7659897"/>
            <a:ext cx="11945517" cy="2101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9"/>
              </a:lnSpc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 escolha foi baseada principalmente no F1-Score, pois essa métrica indica um bom equilíbrio entre precision e recall.</a:t>
            </a:r>
          </a:p>
          <a:p>
            <a:pPr algn="just">
              <a:lnSpc>
                <a:spcPts val="2799"/>
              </a:lnSpc>
            </a:pPr>
          </a:p>
          <a:p>
            <a:pPr algn="just">
              <a:lnSpc>
                <a:spcPts val="2799"/>
              </a:lnSpc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Além disso, o SVM teve desempenho consistente em todas as classes, especialmente nas classes O venceu e Empate.</a:t>
            </a:r>
          </a:p>
          <a:p>
            <a:pPr algn="just">
              <a:lnSpc>
                <a:spcPts val="27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481179" y="576468"/>
            <a:ext cx="1919429" cy="566532"/>
            <a:chOff x="0" y="0"/>
            <a:chExt cx="505529" cy="1492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357FF">
                    <a:alpha val="100000"/>
                  </a:srgbClr>
                </a:gs>
                <a:gs pos="100000">
                  <a:srgbClr val="FCAC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true" rot="0">
            <a:off x="545050" y="42159"/>
            <a:ext cx="2750861" cy="2750861"/>
          </a:xfrm>
          <a:custGeom>
            <a:avLst/>
            <a:gdLst/>
            <a:ahLst/>
            <a:cxnLst/>
            <a:rect r="r" b="b" t="t" l="l"/>
            <a:pathLst>
              <a:path h="2750861" w="2750861">
                <a:moveTo>
                  <a:pt x="2750862" y="2750862"/>
                </a:moveTo>
                <a:lnTo>
                  <a:pt x="0" y="2750862"/>
                </a:lnTo>
                <a:lnTo>
                  <a:pt x="0" y="0"/>
                </a:lnTo>
                <a:lnTo>
                  <a:pt x="2750862" y="0"/>
                </a:lnTo>
                <a:lnTo>
                  <a:pt x="2750862" y="275086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1920481" y="3119841"/>
          <a:ext cx="8702907" cy="3990975"/>
        </p:xfrm>
        <a:graphic>
          <a:graphicData uri="http://schemas.openxmlformats.org/drawingml/2006/table">
            <a:tbl>
              <a:tblPr/>
              <a:tblGrid>
                <a:gridCol w="2141490"/>
                <a:gridCol w="2043333"/>
                <a:gridCol w="2263245"/>
                <a:gridCol w="2254839"/>
              </a:tblGrid>
              <a:tr h="79819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Classe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Precision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Recall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F1-Score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819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Tem jogo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0.89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0.85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0.87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819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X venceu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0.85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0.82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0.84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819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O venceu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0.98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1.00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0.99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819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Empate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0.93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0.97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0.95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15730249" y="663200"/>
            <a:ext cx="1421291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Page 18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20481" y="1162050"/>
            <a:ext cx="12877780" cy="1957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704"/>
              </a:lnSpc>
            </a:pPr>
            <a:r>
              <a:rPr lang="en-US" sz="6641" spc="-312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Resultados por classe do SVM</a:t>
            </a:r>
          </a:p>
          <a:p>
            <a:pPr algn="just" marL="0" indent="0" lvl="0">
              <a:lnSpc>
                <a:spcPts val="7704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920481" y="7659897"/>
            <a:ext cx="11945517" cy="139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9"/>
              </a:lnSpc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 SVM teve ótimo desempenho principalmente para identificar O venceu e Empate. As classes com maior dificuldade foram Tem jogo e X venceu, pois alguns estados intermediários podem ser parecidos com estados próximos do fim da partida.</a:t>
            </a:r>
          </a:p>
          <a:p>
            <a:pPr algn="just">
              <a:lnSpc>
                <a:spcPts val="2799"/>
              </a:lnSpc>
              <a:spcBef>
                <a:spcPct val="0"/>
              </a:spcBef>
            </a:pPr>
          </a:p>
        </p:txBody>
      </p:sp>
      <p:sp>
        <p:nvSpPr>
          <p:cNvPr name="Freeform 10" id="10"/>
          <p:cNvSpPr/>
          <p:nvPr/>
        </p:nvSpPr>
        <p:spPr>
          <a:xfrm flipH="false" flipV="true" rot="0">
            <a:off x="12730738" y="1143000"/>
            <a:ext cx="7420312" cy="7420312"/>
          </a:xfrm>
          <a:custGeom>
            <a:avLst/>
            <a:gdLst/>
            <a:ahLst/>
            <a:cxnLst/>
            <a:rect r="r" b="b" t="t" l="l"/>
            <a:pathLst>
              <a:path h="7420312" w="7420312">
                <a:moveTo>
                  <a:pt x="0" y="7420312"/>
                </a:moveTo>
                <a:lnTo>
                  <a:pt x="7420312" y="7420312"/>
                </a:lnTo>
                <a:lnTo>
                  <a:pt x="7420312" y="0"/>
                </a:lnTo>
                <a:lnTo>
                  <a:pt x="0" y="0"/>
                </a:lnTo>
                <a:lnTo>
                  <a:pt x="0" y="742031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5400000">
            <a:off x="10251749" y="2121895"/>
            <a:ext cx="10458860" cy="10477911"/>
          </a:xfrm>
          <a:custGeom>
            <a:avLst/>
            <a:gdLst/>
            <a:ahLst/>
            <a:cxnLst/>
            <a:rect r="r" b="b" t="t" l="l"/>
            <a:pathLst>
              <a:path h="10477911" w="10458860">
                <a:moveTo>
                  <a:pt x="10458860" y="0"/>
                </a:moveTo>
                <a:lnTo>
                  <a:pt x="0" y="0"/>
                </a:lnTo>
                <a:lnTo>
                  <a:pt x="0" y="10477911"/>
                </a:lnTo>
                <a:lnTo>
                  <a:pt x="10458860" y="10477911"/>
                </a:lnTo>
                <a:lnTo>
                  <a:pt x="1045886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481179" y="576468"/>
            <a:ext cx="1919429" cy="566532"/>
            <a:chOff x="0" y="0"/>
            <a:chExt cx="505529" cy="1492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357FF">
                    <a:alpha val="100000"/>
                  </a:srgbClr>
                </a:gs>
                <a:gs pos="100000">
                  <a:srgbClr val="FCAC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true" flipV="true" rot="0">
            <a:off x="545050" y="42159"/>
            <a:ext cx="2750861" cy="2750861"/>
          </a:xfrm>
          <a:custGeom>
            <a:avLst/>
            <a:gdLst/>
            <a:ahLst/>
            <a:cxnLst/>
            <a:rect r="r" b="b" t="t" l="l"/>
            <a:pathLst>
              <a:path h="2750861" w="2750861">
                <a:moveTo>
                  <a:pt x="2750862" y="2750862"/>
                </a:moveTo>
                <a:lnTo>
                  <a:pt x="0" y="2750862"/>
                </a:lnTo>
                <a:lnTo>
                  <a:pt x="0" y="0"/>
                </a:lnTo>
                <a:lnTo>
                  <a:pt x="2750862" y="0"/>
                </a:lnTo>
                <a:lnTo>
                  <a:pt x="2750862" y="275086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1920481" y="3613862"/>
          <a:ext cx="8631834" cy="3990975"/>
        </p:xfrm>
        <a:graphic>
          <a:graphicData uri="http://schemas.openxmlformats.org/drawingml/2006/table">
            <a:tbl>
              <a:tblPr/>
              <a:tblGrid>
                <a:gridCol w="1700885"/>
                <a:gridCol w="1551535"/>
                <a:gridCol w="1797589"/>
                <a:gridCol w="1790912"/>
                <a:gridCol w="1790912"/>
              </a:tblGrid>
              <a:tr h="79819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Classe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Tem jogo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X v</a:t>
                      </a:r>
                      <a:r>
                        <a:rPr lang="en-US" sz="1999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enceu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O venceu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Empate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819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Tem jogo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34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819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X venceu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33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819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O venceu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40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819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Empate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39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8" id="8"/>
          <p:cNvSpPr txBox="true"/>
          <p:nvPr/>
        </p:nvSpPr>
        <p:spPr>
          <a:xfrm rot="0">
            <a:off x="15730249" y="663200"/>
            <a:ext cx="1421291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Page 19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20481" y="1162050"/>
            <a:ext cx="12877780" cy="1957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704"/>
              </a:lnSpc>
            </a:pPr>
            <a:r>
              <a:rPr lang="en-US" sz="6641" spc="-312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Matriz de confusão do SVM</a:t>
            </a:r>
          </a:p>
          <a:p>
            <a:pPr algn="just" marL="0" indent="0" lvl="0">
              <a:lnSpc>
                <a:spcPts val="7704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920481" y="2921712"/>
            <a:ext cx="11945517" cy="69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9"/>
              </a:lnSpc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Matriz de confusão obtida no conjunto de teste:</a:t>
            </a:r>
          </a:p>
          <a:p>
            <a:pPr algn="just">
              <a:lnSpc>
                <a:spcPts val="2799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920481" y="7904979"/>
            <a:ext cx="12408086" cy="139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9"/>
              </a:lnSpc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 matriz mostra que o modelo classificou perfeitamente todos os casos de O venceu e quase todos os casos de Empate. Os principais erros ocorreram entre Tem jogo e X venceu, o que indica que alguns estados em andamento foram confundidos com estados de vitória do jogador X.</a:t>
            </a:r>
          </a:p>
          <a:p>
            <a:pPr algn="just">
              <a:lnSpc>
                <a:spcPts val="27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481179" y="576468"/>
            <a:ext cx="1919429" cy="566532"/>
            <a:chOff x="0" y="0"/>
            <a:chExt cx="505529" cy="1492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357FF">
                    <a:alpha val="100000"/>
                  </a:srgbClr>
                </a:gs>
                <a:gs pos="100000">
                  <a:srgbClr val="FCAC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true" rot="-5400000">
            <a:off x="-1525342" y="-2041870"/>
            <a:ext cx="8558066" cy="8573655"/>
          </a:xfrm>
          <a:custGeom>
            <a:avLst/>
            <a:gdLst/>
            <a:ahLst/>
            <a:cxnLst/>
            <a:rect r="r" b="b" t="t" l="l"/>
            <a:pathLst>
              <a:path h="8573655" w="8558066">
                <a:moveTo>
                  <a:pt x="0" y="8573654"/>
                </a:moveTo>
                <a:lnTo>
                  <a:pt x="8558066" y="8573654"/>
                </a:lnTo>
                <a:lnTo>
                  <a:pt x="8558066" y="0"/>
                </a:lnTo>
                <a:lnTo>
                  <a:pt x="0" y="0"/>
                </a:lnTo>
                <a:lnTo>
                  <a:pt x="0" y="857365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730249" y="663200"/>
            <a:ext cx="1421291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Page 20</a:t>
            </a:r>
          </a:p>
        </p:txBody>
      </p:sp>
      <p:sp>
        <p:nvSpPr>
          <p:cNvPr name="Freeform 7" id="7"/>
          <p:cNvSpPr/>
          <p:nvPr/>
        </p:nvSpPr>
        <p:spPr>
          <a:xfrm flipH="false" flipV="true" rot="0">
            <a:off x="13580177" y="5790773"/>
            <a:ext cx="7358247" cy="7358247"/>
          </a:xfrm>
          <a:custGeom>
            <a:avLst/>
            <a:gdLst/>
            <a:ahLst/>
            <a:cxnLst/>
            <a:rect r="r" b="b" t="t" l="l"/>
            <a:pathLst>
              <a:path h="7358247" w="7358247">
                <a:moveTo>
                  <a:pt x="0" y="7358247"/>
                </a:moveTo>
                <a:lnTo>
                  <a:pt x="7358246" y="7358247"/>
                </a:lnTo>
                <a:lnTo>
                  <a:pt x="7358246" y="0"/>
                </a:lnTo>
                <a:lnTo>
                  <a:pt x="0" y="0"/>
                </a:lnTo>
                <a:lnTo>
                  <a:pt x="0" y="7358247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995186" y="1284694"/>
            <a:ext cx="12559114" cy="1957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7704"/>
              </a:lnSpc>
            </a:pPr>
            <a:r>
              <a:rPr lang="en-US" sz="6641" spc="-312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Front-end desenvolvido</a:t>
            </a:r>
          </a:p>
          <a:p>
            <a:pPr algn="just" marL="0" indent="0" lvl="0">
              <a:lnSpc>
                <a:spcPts val="7704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491500" y="2782461"/>
            <a:ext cx="12088677" cy="5978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9"/>
              </a:lnSpc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Foi desenvolvido um front-end simples em terminal para testar a IA durante uma partida.</a:t>
            </a:r>
          </a:p>
          <a:p>
            <a:pPr algn="just">
              <a:lnSpc>
                <a:spcPts val="2799"/>
              </a:lnSpc>
            </a:pPr>
          </a:p>
          <a:p>
            <a:pPr algn="just">
              <a:lnSpc>
                <a:spcPts val="2799"/>
              </a:lnSpc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Características do front-end:</a:t>
            </a:r>
          </a:p>
          <a:p>
            <a:pPr algn="just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 usuário joga como X;</a:t>
            </a:r>
          </a:p>
          <a:p>
            <a:pPr algn="just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 computador joga como O;</a:t>
            </a:r>
          </a:p>
          <a:p>
            <a:pPr algn="just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 computador escolhe jogadas aleatórias;</a:t>
            </a:r>
          </a:p>
          <a:p>
            <a:pPr algn="just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 cada turno, o modelo classifica o estado do tabuleiro;</a:t>
            </a:r>
          </a:p>
          <a:p>
            <a:pPr algn="just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 sistema mostra:</a:t>
            </a:r>
          </a:p>
          <a:p>
            <a:pPr algn="just" marL="863598" indent="-287866" lvl="2">
              <a:lnSpc>
                <a:spcPts val="2799"/>
              </a:lnSpc>
              <a:buFont typeface="Arial"/>
              <a:buChar char="⚬"/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stado real;</a:t>
            </a:r>
          </a:p>
          <a:p>
            <a:pPr algn="just" marL="863598" indent="-287866" lvl="2">
              <a:lnSpc>
                <a:spcPts val="2799"/>
              </a:lnSpc>
              <a:buFont typeface="Arial"/>
              <a:buChar char="⚬"/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classificação da IA;</a:t>
            </a:r>
          </a:p>
          <a:p>
            <a:pPr algn="just" marL="863598" indent="-287866" lvl="2">
              <a:lnSpc>
                <a:spcPts val="2799"/>
              </a:lnSpc>
              <a:buFont typeface="Arial"/>
              <a:buChar char="⚬"/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acerto ou erro;</a:t>
            </a:r>
          </a:p>
          <a:p>
            <a:pPr algn="just" marL="863598" indent="-287866" lvl="2">
              <a:lnSpc>
                <a:spcPts val="2799"/>
              </a:lnSpc>
              <a:buFont typeface="Arial"/>
              <a:buChar char="⚬"/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acurácia acumulada;</a:t>
            </a:r>
          </a:p>
          <a:p>
            <a:pPr algn="just" marL="863598" indent="-287866" lvl="2">
              <a:lnSpc>
                <a:spcPts val="2799"/>
              </a:lnSpc>
              <a:buFont typeface="Arial"/>
              <a:buChar char="⚬"/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resumo da partida.</a:t>
            </a:r>
          </a:p>
          <a:p>
            <a:pPr algn="just">
              <a:lnSpc>
                <a:spcPts val="2799"/>
              </a:lnSpc>
            </a:pPr>
          </a:p>
          <a:p>
            <a:pPr algn="just">
              <a:lnSpc>
                <a:spcPts val="2799"/>
              </a:lnSpc>
              <a:spcBef>
                <a:spcPct val="0"/>
              </a:spcBef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 enunciado solicitava que o front-end permitisse a interação entre jogador humano e máquina aleatória, além de medir acertos, erros e acurácia da IA durante as partidas.  </a:t>
            </a:r>
          </a:p>
          <a:p>
            <a:pPr algn="just">
              <a:lnSpc>
                <a:spcPts val="27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481179" y="576468"/>
            <a:ext cx="1919429" cy="566532"/>
            <a:chOff x="0" y="0"/>
            <a:chExt cx="505529" cy="1492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357FF">
                    <a:alpha val="100000"/>
                  </a:srgbClr>
                </a:gs>
                <a:gs pos="100000">
                  <a:srgbClr val="FCAC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true" rot="-5400000">
            <a:off x="-2869895" y="-1153983"/>
            <a:ext cx="8558066" cy="8573655"/>
          </a:xfrm>
          <a:custGeom>
            <a:avLst/>
            <a:gdLst/>
            <a:ahLst/>
            <a:cxnLst/>
            <a:rect r="r" b="b" t="t" l="l"/>
            <a:pathLst>
              <a:path h="8573655" w="8558066">
                <a:moveTo>
                  <a:pt x="0" y="8573655"/>
                </a:moveTo>
                <a:lnTo>
                  <a:pt x="8558066" y="8573655"/>
                </a:lnTo>
                <a:lnTo>
                  <a:pt x="8558066" y="0"/>
                </a:lnTo>
                <a:lnTo>
                  <a:pt x="0" y="0"/>
                </a:lnTo>
                <a:lnTo>
                  <a:pt x="0" y="857365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11497756" y="7411878"/>
            <a:ext cx="5653784" cy="5653784"/>
          </a:xfrm>
          <a:custGeom>
            <a:avLst/>
            <a:gdLst/>
            <a:ahLst/>
            <a:cxnLst/>
            <a:rect r="r" b="b" t="t" l="l"/>
            <a:pathLst>
              <a:path h="5653784" w="5653784">
                <a:moveTo>
                  <a:pt x="0" y="5653783"/>
                </a:moveTo>
                <a:lnTo>
                  <a:pt x="5653783" y="5653783"/>
                </a:lnTo>
                <a:lnTo>
                  <a:pt x="5653783" y="0"/>
                </a:lnTo>
                <a:lnTo>
                  <a:pt x="0" y="0"/>
                </a:lnTo>
                <a:lnTo>
                  <a:pt x="0" y="565378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730249" y="663200"/>
            <a:ext cx="1421291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Page 21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369800" y="1175054"/>
            <a:ext cx="13360449" cy="1957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704"/>
              </a:lnSpc>
            </a:pPr>
            <a:r>
              <a:rPr lang="en-US" sz="6641" spc="-312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Lógica de validação no front-end</a:t>
            </a:r>
          </a:p>
          <a:p>
            <a:pPr algn="just" marL="0" indent="0" lvl="0">
              <a:lnSpc>
                <a:spcPts val="7704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2369800" y="2619245"/>
            <a:ext cx="15633008" cy="5978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9"/>
              </a:lnSpc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 cada jogada, o sistema compara duas informações:</a:t>
            </a:r>
          </a:p>
          <a:p>
            <a:pPr algn="just" marL="431799" indent="-215899" lvl="1">
              <a:lnSpc>
                <a:spcPts val="2799"/>
              </a:lnSpc>
              <a:buAutoNum type="arabicPeriod" startAt="1"/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Estado real do jogo</a:t>
            </a:r>
          </a:p>
          <a:p>
            <a:pPr algn="just" marL="863598" indent="-287866" lvl="2">
              <a:lnSpc>
                <a:spcPts val="2799"/>
              </a:lnSpc>
              <a:buAutoNum type="alphaLcPeriod" startAt="1"/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Calculado por uma lógica tradicional de verificação do jogo da velha.</a:t>
            </a:r>
          </a:p>
          <a:p>
            <a:pPr algn="just" marL="431799" indent="-215899" lvl="1">
              <a:lnSpc>
                <a:spcPts val="2799"/>
              </a:lnSpc>
              <a:buAutoNum type="arabicPeriod" startAt="1"/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Classificação feita pela IA</a:t>
            </a:r>
          </a:p>
          <a:p>
            <a:pPr algn="just" marL="863598" indent="-287866" lvl="2">
              <a:lnSpc>
                <a:spcPts val="2799"/>
              </a:lnSpc>
              <a:buAutoNum type="alphaLcPeriod" startAt="1"/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Resultado previsto pelo modelo de Machine Learning.</a:t>
            </a:r>
          </a:p>
          <a:p>
            <a:pPr algn="just">
              <a:lnSpc>
                <a:spcPts val="2799"/>
              </a:lnSpc>
            </a:pPr>
          </a:p>
          <a:p>
            <a:pPr algn="just">
              <a:lnSpc>
                <a:spcPts val="2799"/>
              </a:lnSpc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</a:t>
            </a: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om isso, o sistema identifica se a IA acertou ou errou.</a:t>
            </a:r>
          </a:p>
          <a:p>
            <a:pPr algn="just">
              <a:lnSpc>
                <a:spcPts val="2799"/>
              </a:lnSpc>
            </a:pPr>
          </a:p>
          <a:p>
            <a:pPr algn="just">
              <a:lnSpc>
                <a:spcPts val="2799"/>
              </a:lnSpc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Exemplo de saída:</a:t>
            </a:r>
          </a:p>
          <a:p>
            <a:pPr algn="just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Estado real: X venceu;</a:t>
            </a:r>
          </a:p>
          <a:p>
            <a:pPr algn="just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IA classificou: X</a:t>
            </a: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venceu;</a:t>
            </a:r>
          </a:p>
          <a:p>
            <a:pPr algn="just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Resultado: AC</a:t>
            </a: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ERTO.</a:t>
            </a:r>
          </a:p>
          <a:p>
            <a:pPr algn="just">
              <a:lnSpc>
                <a:spcPts val="2799"/>
              </a:lnSpc>
            </a:pPr>
          </a:p>
          <a:p>
            <a:pPr algn="just">
              <a:lnSpc>
                <a:spcPts val="2799"/>
              </a:lnSpc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Qu</a:t>
            </a: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ando a IA erra, o sistema aplica a regra definida no enunciado:</a:t>
            </a:r>
          </a:p>
          <a:p>
            <a:pPr algn="just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Se a IA não detecta o fim → jogo encerra mesmo assim (regra real prevalece)     </a:t>
            </a:r>
          </a:p>
          <a:p>
            <a:pPr algn="just" marL="431799" indent="-215899" lvl="1">
              <a:lnSpc>
                <a:spcPts val="2799"/>
              </a:lnSpc>
              <a:spcBef>
                <a:spcPct val="0"/>
              </a:spcBef>
              <a:buFont typeface="Arial"/>
              <a:buChar char="•"/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Se a IA detecta fim incorretamente → jogo continua (ignora o falso positivo da IA).</a:t>
            </a:r>
          </a:p>
          <a:p>
            <a:pPr algn="just">
              <a:lnSpc>
                <a:spcPts val="27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481179" y="576468"/>
            <a:ext cx="1919429" cy="566532"/>
            <a:chOff x="0" y="0"/>
            <a:chExt cx="505529" cy="1492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357FF">
                    <a:alpha val="100000"/>
                  </a:srgbClr>
                </a:gs>
                <a:gs pos="100000">
                  <a:srgbClr val="FCAC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-5400000">
            <a:off x="11157371" y="2500334"/>
            <a:ext cx="9145756" cy="9162415"/>
          </a:xfrm>
          <a:custGeom>
            <a:avLst/>
            <a:gdLst/>
            <a:ahLst/>
            <a:cxnLst/>
            <a:rect r="r" b="b" t="t" l="l"/>
            <a:pathLst>
              <a:path h="9162415" w="9145756">
                <a:moveTo>
                  <a:pt x="9145756" y="0"/>
                </a:moveTo>
                <a:lnTo>
                  <a:pt x="0" y="0"/>
                </a:lnTo>
                <a:lnTo>
                  <a:pt x="0" y="9162415"/>
                </a:lnTo>
                <a:lnTo>
                  <a:pt x="9145756" y="9162415"/>
                </a:lnTo>
                <a:lnTo>
                  <a:pt x="914575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-1062951"/>
            <a:ext cx="7672410" cy="7672410"/>
          </a:xfrm>
          <a:custGeom>
            <a:avLst/>
            <a:gdLst/>
            <a:ahLst/>
            <a:cxnLst/>
            <a:rect r="r" b="b" t="t" l="l"/>
            <a:pathLst>
              <a:path h="7672410" w="7672410">
                <a:moveTo>
                  <a:pt x="0" y="0"/>
                </a:moveTo>
                <a:lnTo>
                  <a:pt x="7672410" y="0"/>
                </a:lnTo>
                <a:lnTo>
                  <a:pt x="7672410" y="7672409"/>
                </a:lnTo>
                <a:lnTo>
                  <a:pt x="0" y="76724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730249" y="663200"/>
            <a:ext cx="1421291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Page 24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527713"/>
            <a:ext cx="4584577" cy="2929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704"/>
              </a:lnSpc>
            </a:pPr>
            <a:r>
              <a:rPr lang="en-US" sz="6641" spc="-31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Decisões e justificativas</a:t>
            </a:r>
          </a:p>
          <a:p>
            <a:pPr algn="just" marL="0" indent="0" lvl="0">
              <a:lnSpc>
                <a:spcPts val="7704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8644410" y="2171175"/>
            <a:ext cx="8139229" cy="668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9"/>
              </a:lnSpc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Durante o desenvolvimento, algumas decisões foram tomadas para deixar a solução mais adequada ao enunciado e permitir uma comparação justa entre os modelos.</a:t>
            </a:r>
          </a:p>
          <a:p>
            <a:pPr algn="just">
              <a:lnSpc>
                <a:spcPts val="2799"/>
              </a:lnSpc>
            </a:pPr>
          </a:p>
          <a:p>
            <a:pPr algn="just">
              <a:lnSpc>
                <a:spcPts val="2799"/>
              </a:lnSpc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 problema foi transformado em uma classificação multiclasse, pois o dataset original não trazia diretamente as quatro classes exigidas: Tem jogo, X venceu, O venceu e Empate.</a:t>
            </a:r>
          </a:p>
          <a:p>
            <a:pPr algn="just">
              <a:lnSpc>
                <a:spcPts val="2799"/>
              </a:lnSpc>
            </a:pPr>
          </a:p>
          <a:p>
            <a:pPr algn="just">
              <a:lnSpc>
                <a:spcPts val="2799"/>
              </a:lnSpc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Também foi feito o balanceamento das classes, com 200 amostras para cada uma, evitando que os modelos favorecessem uma classe com mais exemplos.</a:t>
            </a:r>
          </a:p>
          <a:p>
            <a:pPr algn="just">
              <a:lnSpc>
                <a:spcPts val="2799"/>
              </a:lnSpc>
            </a:pPr>
          </a:p>
          <a:p>
            <a:pPr algn="just">
              <a:lnSpc>
                <a:spcPts val="2799"/>
              </a:lnSpc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Todos os algoritmos utilizaram a mesma divisão de treino e teste, garantindo uma comparação justa.</a:t>
            </a:r>
          </a:p>
          <a:p>
            <a:pPr algn="just">
              <a:lnSpc>
                <a:spcPts val="2799"/>
              </a:lnSpc>
            </a:pPr>
          </a:p>
          <a:p>
            <a:pPr algn="just">
              <a:lnSpc>
                <a:spcPts val="2799"/>
              </a:lnSpc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 escolha do melhor modelo foi baseada principalmente no F1-Score, pois ele equilibra precision e recall. Por esse critério, o SVM foi escolhido como melhor modelo.</a:t>
            </a:r>
          </a:p>
          <a:p>
            <a:pPr algn="just">
              <a:lnSpc>
                <a:spcPts val="27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5400000">
            <a:off x="11474253" y="3110315"/>
            <a:ext cx="10458860" cy="10477911"/>
          </a:xfrm>
          <a:custGeom>
            <a:avLst/>
            <a:gdLst/>
            <a:ahLst/>
            <a:cxnLst/>
            <a:rect r="r" b="b" t="t" l="l"/>
            <a:pathLst>
              <a:path h="10477911" w="10458860">
                <a:moveTo>
                  <a:pt x="10458860" y="0"/>
                </a:moveTo>
                <a:lnTo>
                  <a:pt x="0" y="0"/>
                </a:lnTo>
                <a:lnTo>
                  <a:pt x="0" y="10477911"/>
                </a:lnTo>
                <a:lnTo>
                  <a:pt x="10458860" y="10477911"/>
                </a:lnTo>
                <a:lnTo>
                  <a:pt x="1045886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481179" y="576468"/>
            <a:ext cx="1919429" cy="566532"/>
            <a:chOff x="0" y="0"/>
            <a:chExt cx="505529" cy="1492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357FF">
                    <a:alpha val="100000"/>
                  </a:srgbClr>
                </a:gs>
                <a:gs pos="100000">
                  <a:srgbClr val="FCAC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true" flipV="true" rot="0">
            <a:off x="545050" y="42159"/>
            <a:ext cx="2750861" cy="2750861"/>
          </a:xfrm>
          <a:custGeom>
            <a:avLst/>
            <a:gdLst/>
            <a:ahLst/>
            <a:cxnLst/>
            <a:rect r="r" b="b" t="t" l="l"/>
            <a:pathLst>
              <a:path h="2750861" w="2750861">
                <a:moveTo>
                  <a:pt x="2750862" y="2750862"/>
                </a:moveTo>
                <a:lnTo>
                  <a:pt x="0" y="2750862"/>
                </a:lnTo>
                <a:lnTo>
                  <a:pt x="0" y="0"/>
                </a:lnTo>
                <a:lnTo>
                  <a:pt x="2750862" y="0"/>
                </a:lnTo>
                <a:lnTo>
                  <a:pt x="2750862" y="275086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730249" y="663200"/>
            <a:ext cx="1421291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Page 25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20481" y="1162050"/>
            <a:ext cx="12877780" cy="1957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704"/>
              </a:lnSpc>
            </a:pPr>
            <a:r>
              <a:rPr lang="en-US" sz="6641" spc="-312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Dificuldades encontradas</a:t>
            </a:r>
          </a:p>
          <a:p>
            <a:pPr algn="just" marL="0" indent="0" lvl="0">
              <a:lnSpc>
                <a:spcPts val="7704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920481" y="3081741"/>
            <a:ext cx="11945517" cy="421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9"/>
              </a:lnSpc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As principais dificuldades foram:</a:t>
            </a:r>
          </a:p>
          <a:p>
            <a:pPr algn="just" marL="431799" indent="-215899" lvl="1">
              <a:lnSpc>
                <a:spcPts val="2799"/>
              </a:lnSpc>
              <a:buAutoNum type="arabicPeriod" startAt="1"/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Adaptação do dataset original</a:t>
            </a:r>
          </a:p>
          <a:p>
            <a:pPr algn="just" marL="863598" indent="-287866" lvl="2">
              <a:lnSpc>
                <a:spcPts val="2799"/>
              </a:lnSpc>
              <a:buAutoNum type="alphaLcPeriod" startAt="1"/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 dataset da UCI não estava pronto para o problema de quatro classes.</a:t>
            </a:r>
          </a:p>
          <a:p>
            <a:pPr algn="just" marL="431799" indent="-215899" lvl="1">
              <a:lnSpc>
                <a:spcPts val="2799"/>
              </a:lnSpc>
              <a:buAutoNum type="arabicPeriod" startAt="1"/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Balanceamento das classes</a:t>
            </a:r>
          </a:p>
          <a:p>
            <a:pPr algn="just" marL="863598" indent="-287866" lvl="2">
              <a:lnSpc>
                <a:spcPts val="2799"/>
              </a:lnSpc>
              <a:buAutoNum type="alphaLcPeriod" startAt="1"/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 classe Empate possuía poucas amostras originalmente, exigindo adequação para evitar desbalanceamento.</a:t>
            </a:r>
          </a:p>
          <a:p>
            <a:pPr algn="just" marL="431799" indent="-215899" lvl="1">
              <a:lnSpc>
                <a:spcPts val="2799"/>
              </a:lnSpc>
              <a:buAutoNum type="arabicPeriod" startAt="1"/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Escolha dos hiperparâmetros</a:t>
            </a:r>
          </a:p>
          <a:p>
            <a:pPr algn="just" marL="863598" indent="-287866" lvl="2">
              <a:lnSpc>
                <a:spcPts val="2799"/>
              </a:lnSpc>
              <a:buAutoNum type="alphaLcPeriod" startAt="1"/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Foi necessário testar diferentes configurações para cada algoritmo.</a:t>
            </a:r>
          </a:p>
          <a:p>
            <a:pPr algn="just" marL="431799" indent="-215899" lvl="1">
              <a:lnSpc>
                <a:spcPts val="2799"/>
              </a:lnSpc>
              <a:buAutoNum type="arabicPeriod" startAt="1"/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Tratamento dos erros da IA</a:t>
            </a:r>
          </a:p>
          <a:p>
            <a:pPr algn="just" marL="863598" indent="-287866" lvl="2">
              <a:lnSpc>
                <a:spcPts val="2799"/>
              </a:lnSpc>
              <a:buAutoNum type="alphaLcPeriod" startAt="1"/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Foi necessário implementar a lógica pedida no enunciado para quando a IA errasse a detecção do fim do jogo.</a:t>
            </a:r>
          </a:p>
          <a:p>
            <a:pPr algn="just">
              <a:lnSpc>
                <a:spcPts val="27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481179" y="576468"/>
            <a:ext cx="1919429" cy="566532"/>
            <a:chOff x="0" y="0"/>
            <a:chExt cx="505529" cy="1492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357FF">
                    <a:alpha val="100000"/>
                  </a:srgbClr>
                </a:gs>
                <a:gs pos="100000">
                  <a:srgbClr val="FCAC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true" rot="-5400000">
            <a:off x="-2900938" y="-1139739"/>
            <a:ext cx="8558066" cy="8573655"/>
          </a:xfrm>
          <a:custGeom>
            <a:avLst/>
            <a:gdLst/>
            <a:ahLst/>
            <a:cxnLst/>
            <a:rect r="r" b="b" t="t" l="l"/>
            <a:pathLst>
              <a:path h="8573655" w="8558066">
                <a:moveTo>
                  <a:pt x="0" y="8573655"/>
                </a:moveTo>
                <a:lnTo>
                  <a:pt x="8558067" y="8573655"/>
                </a:lnTo>
                <a:lnTo>
                  <a:pt x="8558067" y="0"/>
                </a:lnTo>
                <a:lnTo>
                  <a:pt x="0" y="0"/>
                </a:lnTo>
                <a:lnTo>
                  <a:pt x="0" y="857365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12020093" y="5548144"/>
            <a:ext cx="7420312" cy="7420312"/>
          </a:xfrm>
          <a:custGeom>
            <a:avLst/>
            <a:gdLst/>
            <a:ahLst/>
            <a:cxnLst/>
            <a:rect r="r" b="b" t="t" l="l"/>
            <a:pathLst>
              <a:path h="7420312" w="7420312">
                <a:moveTo>
                  <a:pt x="0" y="7420312"/>
                </a:moveTo>
                <a:lnTo>
                  <a:pt x="7420312" y="7420312"/>
                </a:lnTo>
                <a:lnTo>
                  <a:pt x="7420312" y="0"/>
                </a:lnTo>
                <a:lnTo>
                  <a:pt x="0" y="0"/>
                </a:lnTo>
                <a:lnTo>
                  <a:pt x="0" y="742031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730249" y="663200"/>
            <a:ext cx="1421291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Page 26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337810" y="1021975"/>
            <a:ext cx="11809315" cy="1957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704"/>
              </a:lnSpc>
            </a:pPr>
            <a:r>
              <a:rPr lang="en-US" sz="6641" spc="-312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Ganhos obtidos com o trabalho</a:t>
            </a:r>
          </a:p>
          <a:p>
            <a:pPr algn="just" marL="0" indent="0" lvl="0">
              <a:lnSpc>
                <a:spcPts val="7704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2337810" y="2479097"/>
            <a:ext cx="10668392" cy="4568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9"/>
              </a:lnSpc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 trabalho permitiu desenvolver uma visão completa do processo de Machine Learning, desde o tratamento dos dados até a aplicação prática do modelo.</a:t>
            </a:r>
          </a:p>
          <a:p>
            <a:pPr algn="just">
              <a:lnSpc>
                <a:spcPts val="2799"/>
              </a:lnSpc>
            </a:pPr>
          </a:p>
          <a:p>
            <a:pPr algn="just">
              <a:lnSpc>
                <a:spcPts val="2799"/>
              </a:lnSpc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Principais ganhos:</a:t>
            </a:r>
          </a:p>
          <a:p>
            <a:pPr algn="just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Maior compreensão sobre classificação multiclasse;</a:t>
            </a:r>
          </a:p>
          <a:p>
            <a:pPr algn="just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Prática com pré-processamento e balanceamento de dados;</a:t>
            </a:r>
          </a:p>
          <a:p>
            <a:pPr algn="just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Experiência com validação cruzada e busca de hiperparâmetros;</a:t>
            </a:r>
          </a:p>
          <a:p>
            <a:pPr algn="just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Comparação prática entre diferentes algoritmos;</a:t>
            </a:r>
          </a:p>
          <a:p>
            <a:pPr algn="just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Interpretação de métricas como precision, recall e F1-score;</a:t>
            </a:r>
          </a:p>
          <a:p>
            <a:pPr algn="just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Integração de modelos treinados com uma aplicação funcional;</a:t>
            </a:r>
          </a:p>
          <a:p>
            <a:pPr algn="just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Compreensão de que um bom resultado no teste não garante 100% de acerto em todas as interações reais.</a:t>
            </a:r>
          </a:p>
          <a:p>
            <a:pPr algn="just">
              <a:lnSpc>
                <a:spcPts val="27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481179" y="576468"/>
            <a:ext cx="1919429" cy="566532"/>
            <a:chOff x="0" y="0"/>
            <a:chExt cx="505529" cy="1492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357FF">
                    <a:alpha val="100000"/>
                  </a:srgbClr>
                </a:gs>
                <a:gs pos="100000">
                  <a:srgbClr val="FCAC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true" rot="-5400000">
            <a:off x="-846387" y="0"/>
            <a:ext cx="7962927" cy="7962927"/>
          </a:xfrm>
          <a:custGeom>
            <a:avLst/>
            <a:gdLst/>
            <a:ahLst/>
            <a:cxnLst/>
            <a:rect r="r" b="b" t="t" l="l"/>
            <a:pathLst>
              <a:path h="7962927" w="7962927">
                <a:moveTo>
                  <a:pt x="7962927" y="7962927"/>
                </a:moveTo>
                <a:lnTo>
                  <a:pt x="0" y="7962927"/>
                </a:lnTo>
                <a:lnTo>
                  <a:pt x="0" y="0"/>
                </a:lnTo>
                <a:lnTo>
                  <a:pt x="7962927" y="0"/>
                </a:lnTo>
                <a:lnTo>
                  <a:pt x="7962927" y="796292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5400000">
            <a:off x="13064242" y="5436677"/>
            <a:ext cx="7629348" cy="7643245"/>
          </a:xfrm>
          <a:custGeom>
            <a:avLst/>
            <a:gdLst/>
            <a:ahLst/>
            <a:cxnLst/>
            <a:rect r="r" b="b" t="t" l="l"/>
            <a:pathLst>
              <a:path h="7643245" w="7629348">
                <a:moveTo>
                  <a:pt x="7629349" y="0"/>
                </a:moveTo>
                <a:lnTo>
                  <a:pt x="0" y="0"/>
                </a:lnTo>
                <a:lnTo>
                  <a:pt x="0" y="7643246"/>
                </a:lnTo>
                <a:lnTo>
                  <a:pt x="7629349" y="7643246"/>
                </a:lnTo>
                <a:lnTo>
                  <a:pt x="762934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730249" y="663200"/>
            <a:ext cx="1421291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Page 27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514285"/>
            <a:ext cx="5588361" cy="2929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704"/>
              </a:lnSpc>
            </a:pPr>
            <a:r>
              <a:rPr lang="en-US" sz="6641" spc="-312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Ferramentas de IA utilizadas</a:t>
            </a:r>
          </a:p>
          <a:p>
            <a:pPr algn="just" marL="0" indent="0" lvl="0">
              <a:lnSpc>
                <a:spcPts val="7704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7969150" y="2204017"/>
            <a:ext cx="8909766" cy="4921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9"/>
              </a:lnSpc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Durante o desenvolvimento do trabalho, foram utilizadas ferramentas de IA como apoio em algumas etapas do projeto.</a:t>
            </a:r>
          </a:p>
          <a:p>
            <a:pPr algn="just">
              <a:lnSpc>
                <a:spcPts val="2799"/>
              </a:lnSpc>
            </a:pPr>
          </a:p>
          <a:p>
            <a:pPr algn="just">
              <a:lnSpc>
                <a:spcPts val="2799"/>
              </a:lnSpc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 IA auxiliou principalmente na construção e organização da parte de front-end, ajudando na lógica de interação pelo terminal, nas mensagens exibidas ao usuário e na forma de contabilizar acertos, erros e acurácia durante a partida.</a:t>
            </a:r>
          </a:p>
          <a:p>
            <a:pPr algn="just">
              <a:lnSpc>
                <a:spcPts val="2799"/>
              </a:lnSpc>
            </a:pPr>
          </a:p>
          <a:p>
            <a:pPr algn="just">
              <a:lnSpc>
                <a:spcPts val="2799"/>
              </a:lnSpc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Também foi utilizada como apoio na elaboração do README, na organização das explicações do projeto e na estruturação do relatório em formato PPT.</a:t>
            </a:r>
          </a:p>
          <a:p>
            <a:pPr algn="just">
              <a:lnSpc>
                <a:spcPts val="2799"/>
              </a:lnSpc>
            </a:pPr>
          </a:p>
          <a:p>
            <a:pPr algn="just">
              <a:lnSpc>
                <a:spcPts val="2799"/>
              </a:lnSpc>
            </a:pPr>
          </a:p>
          <a:p>
            <a:pPr algn="just">
              <a:lnSpc>
                <a:spcPts val="27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481179" y="576468"/>
            <a:ext cx="1919429" cy="566532"/>
            <a:chOff x="0" y="0"/>
            <a:chExt cx="505529" cy="1492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357FF">
                    <a:alpha val="100000"/>
                  </a:srgbClr>
                </a:gs>
                <a:gs pos="100000">
                  <a:srgbClr val="FCAC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true" rot="-5400000">
            <a:off x="-1525342" y="-2041870"/>
            <a:ext cx="8558066" cy="8573655"/>
          </a:xfrm>
          <a:custGeom>
            <a:avLst/>
            <a:gdLst/>
            <a:ahLst/>
            <a:cxnLst/>
            <a:rect r="r" b="b" t="t" l="l"/>
            <a:pathLst>
              <a:path h="8573655" w="8558066">
                <a:moveTo>
                  <a:pt x="0" y="8573654"/>
                </a:moveTo>
                <a:lnTo>
                  <a:pt x="8558066" y="8573654"/>
                </a:lnTo>
                <a:lnTo>
                  <a:pt x="8558066" y="0"/>
                </a:lnTo>
                <a:lnTo>
                  <a:pt x="0" y="0"/>
                </a:lnTo>
                <a:lnTo>
                  <a:pt x="0" y="857365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730249" y="663200"/>
            <a:ext cx="1421291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Page 28</a:t>
            </a:r>
          </a:p>
        </p:txBody>
      </p:sp>
      <p:sp>
        <p:nvSpPr>
          <p:cNvPr name="Freeform 7" id="7"/>
          <p:cNvSpPr/>
          <p:nvPr/>
        </p:nvSpPr>
        <p:spPr>
          <a:xfrm flipH="false" flipV="true" rot="0">
            <a:off x="13580177" y="5790773"/>
            <a:ext cx="7358247" cy="7358247"/>
          </a:xfrm>
          <a:custGeom>
            <a:avLst/>
            <a:gdLst/>
            <a:ahLst/>
            <a:cxnLst/>
            <a:rect r="r" b="b" t="t" l="l"/>
            <a:pathLst>
              <a:path h="7358247" w="7358247">
                <a:moveTo>
                  <a:pt x="0" y="7358247"/>
                </a:moveTo>
                <a:lnTo>
                  <a:pt x="7358246" y="7358247"/>
                </a:lnTo>
                <a:lnTo>
                  <a:pt x="7358246" y="0"/>
                </a:lnTo>
                <a:lnTo>
                  <a:pt x="0" y="0"/>
                </a:lnTo>
                <a:lnTo>
                  <a:pt x="0" y="7358247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995186" y="1284694"/>
            <a:ext cx="12559114" cy="1957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7704"/>
              </a:lnSpc>
            </a:pPr>
            <a:r>
              <a:rPr lang="en-US" sz="6641" spc="-312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Conclusão</a:t>
            </a:r>
          </a:p>
          <a:p>
            <a:pPr algn="just" marL="0" indent="0" lvl="0">
              <a:lnSpc>
                <a:spcPts val="7704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995186" y="3192462"/>
            <a:ext cx="12911271" cy="386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9"/>
              </a:lnSpc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 trabalho atingiu o objetivo proposto, pois foi desenvolvida uma solução de IA capaz de classificar estados do Jogo da Velha em quatro classes: Tem jogo, X venceu, O venceu e Empate.</a:t>
            </a:r>
          </a:p>
          <a:p>
            <a:pPr algn="just">
              <a:lnSpc>
                <a:spcPts val="2799"/>
              </a:lnSpc>
            </a:pPr>
          </a:p>
          <a:p>
            <a:pPr algn="just">
              <a:lnSpc>
                <a:spcPts val="2799"/>
              </a:lnSpc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Foram testados cinco algoritmos classificadores: k-NN, MLP, Árvore de Decisão, Random Forest e SVM. A comparação mostrou que o SVM obteve o melhor desempenho no conjunto de teste, com 91,25% de acurácia e F1-Score de 0.9115.</a:t>
            </a:r>
          </a:p>
          <a:p>
            <a:pPr algn="just">
              <a:lnSpc>
                <a:spcPts val="2799"/>
              </a:lnSpc>
            </a:pPr>
          </a:p>
          <a:p>
            <a:pPr algn="just">
              <a:lnSpc>
                <a:spcPts val="2799"/>
              </a:lnSpc>
              <a:spcBef>
                <a:spcPct val="0"/>
              </a:spcBef>
            </a:pPr>
            <a:r>
              <a:rPr lang="en-US" sz="19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Além disso, o modelo foi integrado a um front-end em terminal, permitindo testar a classificação durante partidas reais entre humano e computador. Com isso, foi possível observar tanto o desempenho dos modelos em métricas formais quanto seu comportamento em uma aplicação prática.</a:t>
            </a:r>
          </a:p>
          <a:p>
            <a:pPr algn="just">
              <a:lnSpc>
                <a:spcPts val="27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DAHIpplKAEo</dc:identifier>
  <dcterms:modified xsi:type="dcterms:W3CDTF">2011-08-01T06:04:30Z</dcterms:modified>
  <cp:revision>1</cp:revision>
  <dc:title>Relatorio_Grupo_E</dc:title>
</cp:coreProperties>
</file>